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 question: can a wearable, vibrotactile stimulus engage brain rhythms in a way that helps the brain clear waste (the glymphatic system), with Alzheimer's relevance? I'll motivate it from the literature, lay out what to test, then show a first electrophysiology study testing the premise. I separate 'plausible mechanism' from 'proven' throughout. ~35 min — please interrupt.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gap. Pharmacology for Alzheimer's has struggled — anti-amyloid drugs give small effects and carry safety costs. The most credible non-drug clinical evidence is multidomain lifestyle intervention: FINGER (Ngandu, Lancet 2015) — a 2-year diet + exercise + cognitive-training + vascular-care RCT that slowed cognitive decline — and its U.S. replication, U.S. POINTER (Baker, JAMA 2025). The takeaway: the best non-drug evidence today is a lifestyle package, not a device. Non-invasive neuromodulation — light, sound, vibrotactile — is an emerging but mostly unproven frontier. The question is what a wearable, vibrotactile approach could add, held to the bar those lifestyle trials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mechanistic bridge — why stimulating the brain might help at all. One leading hypothesis is that AD is partly a clearance failure. The glymphatic system (Iliff 2012) moves CSF along perivascular spaces to wash amyloid-β and tau out toward the cervical lymph nodes; it is strongly boosted during sleep (Xie 2013) and by vascular pulsation, and depends on the AQP4 water channel. In AD, amyloid is cleared more slowly (Mawuenyega 2010), and impaired glymphatic flow on DTI-ALPS imaging appears to precede amyloid deposition (ADNI 2024). Important caveat for this audience: it remains contested — DTI-ALPS may index vascular rather than glymphatic function (Mayo 2025), and some studies find clearance reduced rather than increased in sleep. So present it as an active, plausible contributor, not the proven sole cause.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proof-of-principle that motivates the program. Murdock et al. (2024, Nature) showed 40 Hz multisensory (light + sound) stimulation in AD-model mice increased CSF tracer influx ~4-fold, lowered frontal-cortex amyloid ~30%, and pushed more amyloid into the deep cervical lymph nodes — and blocking the AQP4 water channel abolished it, tying the effect directly to the glymphatic route. Separately, Stanford's focused-ultrasound work (Aryal 2022, J Control Release; Azadian 2025, Nat Biotech) shows another non-invasive route to drive CSF influx and clear debris. Together they say clearance is drivable from outside the skull. The gap none fills: a comfortable, wearable, sleep-compatible modality — the case for vibrotactile, and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chain. The glymphatic system is the brain's waste-clearance pathway — CSF/interstitial-fluid exchange that removes amyloid-β and tau. The hypothesis: if we can drive the right rhythms or brain-states from the skin, we may enhance that clearance. This is a mechanism hypothesis to test, not a clinical claim — I'll be explicit about that distinction the whole way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niche. The established sensory-stimulation approach is audiovisual 40 Hz (GENUS). Its practical limits are daily wearability, comfort, and sleep use — exactly when clearance peaks. Vibrotactile stimulation is comparatively unexplored, is wearable, can run during sleep, and integrates with the wearable-sensing ecosystem (the Snyder-lab angle). That combination is the white space this program targets.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anchor evidence chain. In mice, 40 Hz visual/auditory stimulation (GENUS, Tsai lab 2016) reduces amyloid and engages microglia; Murdock 2024 in Nature shows 40 Hz gamma drives CSF influx and amyloid clearance, AQP4-dependent — the gamma-to-glymphatic bridge. Early human trials (Chan 2022) report safety, neural entrainment, and good compliance. This is why 40 Hz is the canonical frequency to start from.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Essential for credibility — especially at Stanford. The Buzsáki lab and others caution that an evoked steady-state response at the stimulus frequency is not the same as entraining the brain's endogenous oscillator; some studies find 40 Hz light does not entrain native gamma in AD models. So the program holds two questions apart: did we engage the circuit, versus did we change the disease. Building that discipline in is part of the design, not a footnote.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targeting clearance via brain-state is reasonable. Glymphatic/CSF flow isn't passive: it's driven by neural activity, vascular pulsation, and especially sleep slow waves — Fultz 2019 (human, NREM slow waves drive CSF oscillations), Hablitz 2019 (influx tracks EEG delta), Mestre 2018 (arterial pulsation), and Jiang-Xie–Kipnis 2024 in Nature (neuronal ionic waves actively direct CSF perfusion). In humans, sleep clearance raises morning plasma Aβ/tau (Dagum 2026). So if stimulation can shape brain state, engaging clearance is mechanistically plausible — and this points to slow / sleep-band stimulation, not only 40 Hz.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vibrotactile-specific evidence. Suk 2023 (Tsai lab) showed 40 Hz whole-body vibration reduces pathology and improves motor function in mouse AD models — the central vibrotactile anchor, though not yet a human AD trial. And classic somatosensory physiology (Romo, Mountcastle flutter coding) shows primary somatosensory cortex faithfully encodes vibration frequency — so a frequency-specific tactile drive is biologically grounded, not wishful.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of Part 2. The literature defines a parameter space: 40 Hz (the GENUS anchor); ~50 Hz (where our own single-unit data peak — coming in Part 3); slow ~1 Hz / sleep-band (because clearance tracks slow waves); patterning — steady single-site versus spatiotemporal 'coordinated reset', which produces lasting plasticity rather than transient entrainment in Parkinson's (Tass vibrotactile glove); and rigorous controls — a non-40 frequency like 20 Hz, sham, and perceptually matched salience to exclude pure arousal. This is the experimental program the current study begins to ground.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tactor delivers a sinusoidal vibration in 3 s ON / 3 s OFF blocks (figure: trial structure + analysis windows). We vary carrier frequency (5, 10, 26, 50 Hz) and amplitude, ~200 trials/condition, recording extracellularly with linear silicon probes in two connected regions at once: hippocampus (spatial/memory) and entorhinal cortex (its principal cortical input). Each window is referenced to the 1 s pre-stimulus baseline; 100 ms margins isolate onset/offset transients.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crux of the whole study. An extracellular electrode captures two regimes. The local field potential (LFP) is the low-frequency aggregate of synaptic/transmembrane currents from many neurons — large, but non-specific and susceptible to volume-conducted or instrumental noise. A 'single unit' is one individual neuron's spiking, isolated by spike sorting (clustering spikes by waveform). Stadium intuition: the crowd's roar (LFP) versus one identified shout (a single unit). The asymmetry that matters: an electrical artifact can add power to the LFP, but it cannot make a sorted neuron fire — so single-unit rate changes are the conservative, artifact-resistant evidence.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broadband LFP shows a clear, amplitude-graded response — but concentrated at the ON and OFF transitions: an evoked transient, not a sustained oscillation at the drive frequency. The difference between responding to the event of stimulation versus tracking its rhythm. So there is a response — but not yet frequency-following.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entrainment test (recall Part 2's definition). Frequency-following predicts a narrowband peak at the carrier above the 1/f background plus above-chance inter-trial phase consistency. We see neither, at any carrier, replicated across two sessions — no power- or phase-based frequency-following in hippocampus.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entorhinal cortex there is a narrowband 50 Hz LFP power increase that scales with amplitude — superficially the entrainment signal we want. But the LFP is precisely the readout electrical pickup can mimic, so before interpreting it as neural we must exclude a stimulator-coupled artifact.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actuator and its drive electronics can couple a 50 Hz signal into the recording — volume-conducted or via wiring. In the LFP that's indistinguishable from a neural 50 Hz. We need a discriminator the artifact can't fool.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discriminator: broken/disconnected channels cannot record neurons but still act as antennas for pickup. If they carry the 50 Hz, it's instrumental. They do — ~6× the in-tissue channels — so the entorhinal 50 Hz LFP is largely stimulator artifact. The headline LFP result is mostly the machine. This is the central twist, and exactly the 'steady-state response ≠ real engagement' caution from Part 2, caught in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artifact-resistant readout: sorted single units change firing rate during the high-amplitude 50 Hz condition, in both regions, and far more than at lower carriers. Pickup cannot drive a sorted neuron's spike train, so this is the clean evidence — and it answers the program's hardest objection: vibrotactile stimulation does reach and frequency-specifically drive these neurons.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controls. Spike detection operates above ~300 Hz, so 50 Hz pickup is filtered out before a spike is detected. And were pickup injecting spurious spikes at 50 Hz, the autocorrelogram would develop 20 ms periodicity during stimulation — it does not, and is identical ON vs OFF; refractory-violation rates don't rise either. So the rate modulation is genuine single-unit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regions transform the same input in opposite directions: a hippocampal subset increases firing while entorhinal cortex is net-suppressed. Opposite-signed responses to identical input are inconsistent with a passive relay and consistent with circuit-specific processing — and the suppression is itself artifact-resistant (pickup adds, it can't remove, spikes).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LFP–LFP coherence increases, but a shared pickup inflates coherence. The spike–field measure (one region's spikes vs the other's LFP phase), which a shared artifact can't fake as easily, does not increase — so the apparent coupling is most parsimoniously a shared signal, not genuine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entrainment (phase-locking) requires a time-aligned reference for the stimulus phase. We didn't record a usable one — so 'no entrainment shown' is a measurement gap, not evidence of absence. The power/periodicity negatives are real; only the phase-locking claim is gated by the missing reference. Separately, we found post hoc that the lower-frequency stimuli (5/10/26 Hz) were not clean sine waves — so the 50 Hz frequency-specificity is partly confounded with stimulus quality; recording the delivered waveform fixes that too.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Verified from the raw digital stream: the sync channel updated at ~4 Hz irrespective of carrier (same ~6 pulses/trial for 5 and 26 Hz; ~78 expected at 26 Hz), never sustained a run at the carrier period, and was misaligned with the schedule. Undersampled and decoupled — phase unrecoverable. A ~4 Hz observer can't resolve a 26 Hz oscillation.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not analysis: record the stimulus three ways on the acquisition clock — a firmware per-cycle marker (implemented), a transduced measurement of the delivered vibration (PVDF or accelerometer, which also verifies delivery), and a drive-signal copy — then cross-validate, plus a short verification recording before the session. With redundancy on a shared clock, a failed reference is caught immediately rather than months later. This is what makes entrainment — and eventually clearance readouts — testable.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fits. The program's hardest objection (Part 2) is whether sensory stimulation engages the relevant circuits or just produces a surface steady-state. This study answers it for vibrotactile stimulation: peripheral vibration drives frequency-specific single-unit responses in hippocampus and entorhinal cortex — AD-relevant medial-temporal circuits — and they're frequency-tuned, peaking near 50 Hz. That converts 'vibrotactile 40 Hz' from an assumption into a measured, tunable target-engagement parameter — the prerequisite before any clearance or clinical claim, and it sharpens the parameter list (40 vs 50 vs slow) for the next studies.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Grouped anchors. Lifestyle bar — FINGER (Ngandu, Lancet 2015) and U.S. POINTER (Baker, JAMA 2025). Clearance hypothesis &amp; drivers — glymphatic discovery (Iliff, Sci Transl Med 2012), sleep clearance (Xie, Science 2013), slowed Aβ clearance in AD (Mawuenyega, Science 2010), 40 Hz → glymphatic clearance, AQP4-dependent (Murdock, Nature 2024), and Stanford focused ultrasound (Aryal, J Control Release 2022; Azadian, Nat Biotech 2025). Stimulation — origin of sensory-gamma (Tsai 2016), the vibrotactile anchor (Suk 2023), and the mechanism legitimizing brain-state stimulation of clearance (Jiang-Xie–Kipnis 2024). Guardrail — Buzsáki/Soula: a steady-state response is not entrainment. Full lit-review repository available on request.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 'Is 50 Hz special or just strongest?' — strongest clean single-unit effect of the carriers tested; the LFP transient was largest at 26 Hz but that's the artifact-prone measure. 'Could it be arousal?' — possible, but frequency-specific (50 ≫ 26 at matched amplitude); an indirect sensory/state pathway isn't excluded. 'Why distrust the 50 Hz LFP?' — disconnected channels carry it at ~6× tissue. 'Is this a treatment?' — no; this is target-engagement evidence for a mechanism hypothesis, deliberately separated from any clinical claim.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om_logo_white.png"/>
          <p:cNvPicPr>
            <a:picLocks noChangeAspect="1"/>
          </p:cNvPicPr>
          <p:nvPr/>
        </p:nvPicPr>
        <p:blipFill>
          <a:blip r:embed="rId2"/>
          <a:stretch>
            <a:fillRect/>
          </a:stretch>
        </p:blipFill>
        <p:spPr>
          <a:xfrm>
            <a:off x="502920" y="457200"/>
            <a:ext cx="3291840" cy="420624"/>
          </a:xfrm>
          <a:prstGeom prst="rect">
            <a:avLst/>
          </a:prstGeom>
        </p:spPr>
      </p:pic>
      <p:pic>
        <p:nvPicPr>
          <p:cNvPr id="5" name="Picture 4" descr="mouse_white.png"/>
          <p:cNvPicPr>
            <a:picLocks noChangeAspect="1"/>
          </p:cNvPicPr>
          <p:nvPr/>
        </p:nvPicPr>
        <p:blipFill>
          <a:blip r:embed="rId3"/>
          <a:stretch>
            <a:fillRect/>
          </a:stretch>
        </p:blipFill>
        <p:spPr>
          <a:xfrm>
            <a:off x="9539935" y="5303520"/>
            <a:ext cx="2011680" cy="1376172"/>
          </a:xfrm>
          <a:prstGeom prst="rect">
            <a:avLst/>
          </a:prstGeom>
        </p:spPr>
      </p:pic>
      <p:sp>
        <p:nvSpPr>
          <p:cNvPr id="6" name="TextBox 5"/>
          <p:cNvSpPr txBox="1"/>
          <p:nvPr/>
        </p:nvSpPr>
        <p:spPr>
          <a:xfrm>
            <a:off x="914400" y="1828800"/>
            <a:ext cx="8534095" cy="1463040"/>
          </a:xfrm>
          <a:prstGeom prst="rect">
            <a:avLst/>
          </a:prstGeom>
          <a:noFill/>
        </p:spPr>
        <p:txBody>
          <a:bodyPr wrap="square" anchor="ctr">
            <a:spAutoFit/>
          </a:bodyPr>
          <a:lstStyle/>
          <a:p>
            <a:pPr algn="l"/>
            <a:r>
              <a:rPr sz="3400" b="1">
                <a:solidFill>
                  <a:srgbClr val="FFFFFF"/>
                </a:solidFill>
                <a:latin typeface="Calibri"/>
              </a:rPr>
              <a:t>Can vibrotactile stimulation drive brain clearance?</a:t>
            </a:r>
          </a:p>
        </p:txBody>
      </p:sp>
      <p:sp>
        <p:nvSpPr>
          <p:cNvPr id="7" name="TextBox 6"/>
          <p:cNvSpPr txBox="1"/>
          <p:nvPr/>
        </p:nvSpPr>
        <p:spPr>
          <a:xfrm>
            <a:off x="914400" y="3383280"/>
            <a:ext cx="8534095" cy="1097280"/>
          </a:xfrm>
          <a:prstGeom prst="rect">
            <a:avLst/>
          </a:prstGeom>
          <a:noFill/>
        </p:spPr>
        <p:txBody>
          <a:bodyPr wrap="square" anchor="t">
            <a:spAutoFit/>
          </a:bodyPr>
          <a:lstStyle/>
          <a:p>
            <a:pPr algn="l"/>
            <a:r>
              <a:rPr sz="1700" b="0">
                <a:solidFill>
                  <a:srgbClr val="D7D2CB"/>
                </a:solidFill>
                <a:latin typeface="Calibri"/>
              </a:rPr>
              <a:t>Wearable vibrotactile stimulation, brain rhythms, and glymphatic clearance — rationale, plan, and first electrophysiology (in the mouse)</a:t>
            </a:r>
          </a:p>
        </p:txBody>
      </p:sp>
      <p:sp>
        <p:nvSpPr>
          <p:cNvPr id="8" name="TextBox 7"/>
          <p:cNvSpPr txBox="1"/>
          <p:nvPr/>
        </p:nvSpPr>
        <p:spPr>
          <a:xfrm>
            <a:off x="914400" y="4846320"/>
            <a:ext cx="10362895" cy="731520"/>
          </a:xfrm>
          <a:prstGeom prst="rect">
            <a:avLst/>
          </a:prstGeom>
          <a:noFill/>
        </p:spPr>
        <p:txBody>
          <a:bodyPr wrap="square" anchor="t">
            <a:spAutoFit/>
          </a:bodyPr>
          <a:lstStyle/>
          <a:p>
            <a:pPr algn="l"/>
            <a:r>
              <a:rPr sz="1600" b="0">
                <a:solidFill>
                  <a:srgbClr val="9A958C"/>
                </a:solidFill>
                <a:latin typeface="Calibri"/>
              </a:rPr>
              <a:t>Pardis Miri  ·  a Snyder Lab (Stanford) × Buzsáki Lab (NYU) collaboration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1 · The vision — clearing the brain with vibrotactile stimulation</a:t>
            </a:r>
          </a:p>
        </p:txBody>
      </p:sp>
      <p:sp>
        <p:nvSpPr>
          <p:cNvPr id="5" name="TextBox 4"/>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PROBLEM</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Alzheimer's resists drugs — non-invasive neuromodulation is an open frontier</a:t>
            </a:r>
          </a:p>
        </p:txBody>
      </p:sp>
      <p:pic>
        <p:nvPicPr>
          <p:cNvPr id="5" name="Picture 4" descr="landscape.png"/>
          <p:cNvPicPr>
            <a:picLocks noChangeAspect="1"/>
          </p:cNvPicPr>
          <p:nvPr/>
        </p:nvPicPr>
        <p:blipFill>
          <a:blip r:embed="rId2"/>
          <a:stretch>
            <a:fillRect/>
          </a:stretch>
        </p:blipFill>
        <p:spPr>
          <a:xfrm>
            <a:off x="731519" y="1965960"/>
            <a:ext cx="10728655" cy="3495059"/>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The strongest non-drug clinical evidence today is multidomain lifestyle (FINGER, Ngandu 2015; US POINTER, Baker 2025). Non-invasive stimulation is largely unproven — which is the opportunity.</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WHY CLEARANCE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A leading hypothesis: failing glymphatic clearance lets amyloid build up</a:t>
            </a:r>
          </a:p>
        </p:txBody>
      </p:sp>
      <p:pic>
        <p:nvPicPr>
          <p:cNvPr id="5" name="Picture 4" descr="glymphatic.png"/>
          <p:cNvPicPr>
            <a:picLocks noChangeAspect="1"/>
          </p:cNvPicPr>
          <p:nvPr/>
        </p:nvPicPr>
        <p:blipFill>
          <a:blip r:embed="rId2"/>
          <a:stretch>
            <a:fillRect/>
          </a:stretch>
        </p:blipFill>
        <p:spPr>
          <a:xfrm>
            <a:off x="1582399" y="1965960"/>
            <a:ext cx="9026895"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The brain clears amyloid-β / tau via CSF–interstitial exchange (the glymphatic system), boosted by sleep and vascular pulsation. Impaired clearance is a leading — but still-unsettled — explanation for AD (Iliff 2012; Xie 2013; DTI-ALPS, ADNI 2024).</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AND IT CAN BE DRIVEN</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And clearance can be driven non-invasively — 40 Hz in mice, focused ultrasound at Stanford</a:t>
            </a:r>
          </a:p>
        </p:txBody>
      </p:sp>
      <p:pic>
        <p:nvPicPr>
          <p:cNvPr id="5" name="Picture 4" descr="driving_clearance.png"/>
          <p:cNvPicPr>
            <a:picLocks noChangeAspect="1"/>
          </p:cNvPicPr>
          <p:nvPr/>
        </p:nvPicPr>
        <p:blipFill>
          <a:blip r:embed="rId2"/>
          <a:stretch>
            <a:fillRect/>
          </a:stretch>
        </p:blipFill>
        <p:spPr>
          <a:xfrm>
            <a:off x="731519" y="1965960"/>
            <a:ext cx="10728655" cy="3769952"/>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40 Hz sensory stimulation drove ~4× CSF influx and ~30% less cortical amyloid, abolished when AQP4 is blocked (Murdock 2024, Nature). Focused ultrasound enhances CSF influx and clearance (Aryal 2022; Azadian 2025). The open question: can a wearable modality do the same?</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THESIS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The proposal: use vibrotactile stimulation to engage brain rhythms and drive clearance</a:t>
            </a:r>
          </a:p>
        </p:txBody>
      </p:sp>
      <p:pic>
        <p:nvPicPr>
          <p:cNvPr id="5" name="Picture 4" descr="vision_chain.png"/>
          <p:cNvPicPr>
            <a:picLocks noChangeAspect="1"/>
          </p:cNvPicPr>
          <p:nvPr/>
        </p:nvPicPr>
        <p:blipFill>
          <a:blip r:embed="rId2"/>
          <a:stretch>
            <a:fillRect/>
          </a:stretch>
        </p:blipFill>
        <p:spPr>
          <a:xfrm>
            <a:off x="731519" y="1965960"/>
            <a:ext cx="10728655" cy="3177187"/>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Wearable vibrotactile stimulation → entrain brain rhythms → engage glymphatic clearance of amyloid-β / tau. A mechanism hypothesis — explicitly not yet a treatment claim.</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WHY VIBROTACTILE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Why vibrotactile, and why wearable: the white space next to light and sound</a:t>
            </a:r>
          </a:p>
        </p:txBody>
      </p:sp>
      <p:pic>
        <p:nvPicPr>
          <p:cNvPr id="5" name="Picture 4" descr="whitespace.png"/>
          <p:cNvPicPr>
            <a:picLocks noChangeAspect="1"/>
          </p:cNvPicPr>
          <p:nvPr/>
        </p:nvPicPr>
        <p:blipFill>
          <a:blip r:embed="rId2"/>
          <a:stretch>
            <a:fillRect/>
          </a:stretch>
        </p:blipFill>
        <p:spPr>
          <a:xfrm>
            <a:off x="1102690" y="1965960"/>
            <a:ext cx="9986313"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40 Hz light/sound (GENUS) is the developed approach but hard to wear daily. Vibrotactile stimulation is the open frontier — wearable, sleep-compatible, and pairs naturally with sensing.</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2 · What the literature says — and what to test</a:t>
            </a:r>
          </a:p>
        </p:txBody>
      </p:sp>
      <p:sp>
        <p:nvSpPr>
          <p:cNvPr id="5" name="TextBox 4"/>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EVIDENCE · 40 HZ GAMMA</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40 Hz sensory stimulation lowers amyloid and drives clearance — animals, and early humans</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GENUS / Tsai 2016: 40 Hz light/sound lowers amyloid. Murdock 2024 (Nature): 40 Hz gamma drives glymphatic Aβ clearance. Human gamma-sensory is safe with target engagement (Chan 2022).</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KEY CAVEAT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But a steady-state response is not the same as entraining the brain's own rhythm</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A driven 40 Hz response ≠ engaging native gamma (Buzsáki/Soula; some studies find 40 Hz light fails to entrain native gamma in AD-model mice). We separate target engagement from disease modification.</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EVIDENCE · CLEARANCE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Clearance is actively driven by neural, vascular &amp; sleep dynamics — so 'brain-state' stimulation is plausible</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CSF flow tracks NREM slow waves (Fultz 2019) and EEG delta (Hablitz 2019); neuronal dynamics actively direct CSF perfusion (Jiang-Xie–Kipnis 2024, Nature); human sleep clearance moves plasma Aβ/tau (Dagum 2026).</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EVIDENCE · VIBROTACTILE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The vibrotactile anchor: 40 Hz vibration helps in mouse AD models, and cortex codes vibration frequency</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40 Hz whole-body vibration reduces pathology and improves function in AD-model mice (Suk 2023). Somatosensory cortex faithfully encodes vibration frequency (Romo, Mountcastle) — vibrotactile input can carry a frequency code.</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 WHAT TO TEST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So which vibrotactile parameters should we test?</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40 Hz (gamma) · ~50 Hz (our electrophysiology, Part 3) · slow ~1 Hz / sleep-band (clearance biology) · steady vs coordinated-reset patterning · controls: 20 Hz, sham, matched salience.</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3 · Does vibrotactile stimulation reach the brain? A first study</a:t>
            </a:r>
          </a:p>
        </p:txBody>
      </p:sp>
      <p:sp>
        <p:nvSpPr>
          <p:cNvPr id="5" name="TextBox 4"/>
          <p:cNvSpPr txBox="1"/>
          <p:nvPr/>
        </p:nvSpPr>
        <p:spPr>
          <a:xfrm>
            <a:off x="914400" y="3749039"/>
            <a:ext cx="10362895" cy="914400"/>
          </a:xfrm>
          <a:prstGeom prst="rect">
            <a:avLst/>
          </a:prstGeom>
          <a:noFill/>
        </p:spPr>
        <p:txBody>
          <a:bodyPr wrap="square" anchor="t">
            <a:spAutoFit/>
          </a:bodyPr>
          <a:lstStyle/>
          <a:p>
            <a:pPr algn="l"/>
            <a:r>
              <a:rPr sz="1900" b="0">
                <a:solidFill>
                  <a:srgbClr val="EDDDDD"/>
                </a:solidFill>
                <a:latin typeface="Calibri"/>
              </a:rPr>
              <a:t>Foundational electrophysiology in the mouse — before any clearance claim</a:t>
            </a:r>
          </a:p>
        </p:txBody>
      </p:sp>
      <p:sp>
        <p:nvSpPr>
          <p:cNvPr id="6" name="TextBox 5"/>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400" b="1">
                <a:solidFill>
                  <a:srgbClr val="2E2D29"/>
                </a:solidFill>
                <a:latin typeface="Calibri"/>
              </a:rPr>
              <a:t>Design: parametric vibrotactile stimulation with simultaneous electrophysiology</a:t>
            </a:r>
          </a:p>
        </p:txBody>
      </p:sp>
      <p:pic>
        <p:nvPicPr>
          <p:cNvPr id="4" name="Picture 3" descr="trial_window_diagram.png"/>
          <p:cNvPicPr>
            <a:picLocks noChangeAspect="1"/>
          </p:cNvPicPr>
          <p:nvPr/>
        </p:nvPicPr>
        <p:blipFill>
          <a:blip r:embed="rId2"/>
          <a:stretch>
            <a:fillRect/>
          </a:stretch>
        </p:blipFill>
        <p:spPr>
          <a:xfrm>
            <a:off x="1514917" y="1554480"/>
            <a:ext cx="9161859" cy="4343400"/>
          </a:xfrm>
          <a:prstGeom prst="rect">
            <a:avLst/>
          </a:prstGeom>
        </p:spPr>
      </p:pic>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3 s ON / 3 s OFF blocks across four carrier frequencies (5/10/26/50 Hz) and three amplitudes; ~200 repeats/condition; dual-region linear-probe recording (hippocampus + entorhinal cortex).</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KEY METHODOLOGICAL DISTINCTION</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One electrode yields two readouts: LFP and single-unit activity</a:t>
            </a:r>
          </a:p>
        </p:txBody>
      </p:sp>
      <p:pic>
        <p:nvPicPr>
          <p:cNvPr id="5" name="Picture 4" descr="stadium.png"/>
          <p:cNvPicPr>
            <a:picLocks noChangeAspect="1"/>
          </p:cNvPicPr>
          <p:nvPr/>
        </p:nvPicPr>
        <p:blipFill>
          <a:blip r:embed="rId2"/>
          <a:stretch>
            <a:fillRect/>
          </a:stretch>
        </p:blipFill>
        <p:spPr>
          <a:xfrm>
            <a:off x="2014140" y="1965960"/>
            <a:ext cx="8163414"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LFP = low-frequency aggregate field (many cells). A single unit = one individual neuron's firing (spikes), isolated by spike sorting. They differ in what can fake them — spikes are the conservative readout.</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1</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A robust LFP response — transition-weighted, not a sustained oscillation</a:t>
            </a:r>
          </a:p>
        </p:txBody>
      </p:sp>
      <p:pic>
        <p:nvPicPr>
          <p:cNvPr id="5" name="Picture 4" descr="transition_index_condition.png"/>
          <p:cNvPicPr>
            <a:picLocks noChangeAspect="1"/>
          </p:cNvPicPr>
          <p:nvPr/>
        </p:nvPicPr>
        <p:blipFill>
          <a:blip r:embed="rId2"/>
          <a:stretch>
            <a:fillRect/>
          </a:stretch>
        </p:blipFill>
        <p:spPr>
          <a:xfrm>
            <a:off x="2000097" y="1965960"/>
            <a:ext cx="8191500"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The broadband LFP responds at stimulus onset/offset (an evoked transient), not as a sustained rhythm at the carrier frequency.</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2</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No frequency-following in hippocampus at any carrier</a:t>
            </a:r>
          </a:p>
        </p:txBody>
      </p:sp>
      <p:pic>
        <p:nvPicPr>
          <p:cNvPr id="5" name="Picture 4" descr="spectral_slope_itpc_dec4.png"/>
          <p:cNvPicPr>
            <a:picLocks noChangeAspect="1"/>
          </p:cNvPicPr>
          <p:nvPr/>
        </p:nvPicPr>
        <p:blipFill>
          <a:blip r:embed="rId2"/>
          <a:stretch>
            <a:fillRect/>
          </a:stretch>
        </p:blipFill>
        <p:spPr>
          <a:xfrm>
            <a:off x="2819247" y="1965960"/>
            <a:ext cx="6553200"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No narrowband spectral peak above the 1/f background, and inter-trial phase consistency at chance — across 5/10/26/50 Hz, replicated across sessions.</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3</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Entorhinal cortex shows an amplitude-graded 50 Hz LFP increase</a:t>
            </a:r>
          </a:p>
        </p:txBody>
      </p:sp>
      <p:pic>
        <p:nvPicPr>
          <p:cNvPr id="5" name="Picture 4" descr="driven_power_change_by_analysis_group.png"/>
          <p:cNvPicPr>
            <a:picLocks noChangeAspect="1"/>
          </p:cNvPicPr>
          <p:nvPr/>
        </p:nvPicPr>
        <p:blipFill>
          <a:blip r:embed="rId2"/>
          <a:stretch>
            <a:fillRect/>
          </a:stretch>
        </p:blipFill>
        <p:spPr>
          <a:xfrm>
            <a:off x="731519" y="1965960"/>
            <a:ext cx="10728655" cy="2043553"/>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A narrowband 50 Hz LFP power increase, scaling with amplitude — the candidate entrainment signal. But the LFP is exactly the readout most vulnerable to artifact.</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CONFOUND</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The confound: stimulator-coupled 50 Hz electrical artifact</a:t>
            </a:r>
          </a:p>
        </p:txBody>
      </p:sp>
      <p:pic>
        <p:nvPicPr>
          <p:cNvPr id="5" name="Picture 4" descr="trap.png"/>
          <p:cNvPicPr>
            <a:picLocks noChangeAspect="1"/>
          </p:cNvPicPr>
          <p:nvPr/>
        </p:nvPicPr>
        <p:blipFill>
          <a:blip r:embed="rId2"/>
          <a:stretch>
            <a:fillRect/>
          </a:stretch>
        </p:blipFill>
        <p:spPr>
          <a:xfrm>
            <a:off x="1774039" y="1965960"/>
            <a:ext cx="8643615"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An electromechanical actuator can inject a 50 Hz electrical artifact directly into the recording — indistinguishable from a neural 50 Hz in the LFP alone.</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3, CONTROLLED</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Disconnected channels carry the 50 Hz — so it is largely pickup</a:t>
            </a:r>
          </a:p>
        </p:txBody>
      </p:sp>
      <p:pic>
        <p:nvPicPr>
          <p:cNvPr id="5" name="Picture 4" descr="50hz_pickup_gradient_dhpc_vs_lec.png"/>
          <p:cNvPicPr>
            <a:picLocks noChangeAspect="1"/>
          </p:cNvPicPr>
          <p:nvPr/>
        </p:nvPicPr>
        <p:blipFill>
          <a:blip r:embed="rId2"/>
          <a:stretch>
            <a:fillRect/>
          </a:stretch>
        </p:blipFill>
        <p:spPr>
          <a:xfrm>
            <a:off x="731519" y="1965960"/>
            <a:ext cx="10728655" cy="3796293"/>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Disconnected electrodes (which cannot record neural signal) show ~6× more 50 Hz than in-tissue channels. The entorhinal 50 Hz LFP is substantially artifact.</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4 — THE ROBUST RESULT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Frequency-specific single-unit rate modulation at 50 Hz</a:t>
            </a:r>
          </a:p>
        </p:txBody>
      </p:sp>
      <p:pic>
        <p:nvPicPr>
          <p:cNvPr id="5" name="Picture 4" descr="spike_onoff_cross_dataset.png"/>
          <p:cNvPicPr>
            <a:picLocks noChangeAspect="1"/>
          </p:cNvPicPr>
          <p:nvPr/>
        </p:nvPicPr>
        <p:blipFill>
          <a:blip r:embed="rId2"/>
          <a:stretch>
            <a:fillRect/>
          </a:stretch>
        </p:blipFill>
        <p:spPr>
          <a:xfrm>
            <a:off x="731519" y="1965960"/>
            <a:ext cx="10728655" cy="3121063"/>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Sorted single units change firing rate during 50 Hz / high-amplitude stimulation, in both regions — an effect electrical pickup cannot produce.</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CONTROLS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Controls: high-pass separation + autocorrelogram / ISI screens</a:t>
            </a:r>
          </a:p>
        </p:txBody>
      </p:sp>
      <p:pic>
        <p:nvPicPr>
          <p:cNvPr id="5" name="Picture 4" descr="unit87_acg_artifact_screen.png"/>
          <p:cNvPicPr>
            <a:picLocks noChangeAspect="1"/>
          </p:cNvPicPr>
          <p:nvPr/>
        </p:nvPicPr>
        <p:blipFill>
          <a:blip r:embed="rId2"/>
          <a:stretch>
            <a:fillRect/>
          </a:stretch>
        </p:blipFill>
        <p:spPr>
          <a:xfrm>
            <a:off x="731519" y="1965960"/>
            <a:ext cx="10728655" cy="2795952"/>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Spikes are detected &gt;~300 Hz (50 Hz pickup is removed pre-detection); units show no stimulus-locked 50 Hz periodicity and no ON-rise in refractory violations.</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5</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Region-specific, bidirectional modulation — not a passive relay</a:t>
            </a:r>
          </a:p>
        </p:txBody>
      </p:sp>
      <p:pic>
        <p:nvPicPr>
          <p:cNvPr id="5" name="Picture 4" descr="spike_50hz_interpretation.png"/>
          <p:cNvPicPr>
            <a:picLocks noChangeAspect="1"/>
          </p:cNvPicPr>
          <p:nvPr/>
        </p:nvPicPr>
        <p:blipFill>
          <a:blip r:embed="rId2"/>
          <a:stretch>
            <a:fillRect/>
          </a:stretch>
        </p:blipFill>
        <p:spPr>
          <a:xfrm>
            <a:off x="2269624" y="1965960"/>
            <a:ext cx="7652446"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Hippocampus: a driven-up subset. Entorhinal cortex: net-suppressed. Opposite transformations of identical input argue for active, circuit-specific processing.</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6</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No clear cross-regional coordination at 50 Hz</a:t>
            </a:r>
          </a:p>
        </p:txBody>
      </p:sp>
      <p:pic>
        <p:nvPicPr>
          <p:cNvPr id="5" name="Picture 4" descr="coordination_50hz_pooled.png"/>
          <p:cNvPicPr>
            <a:picLocks noChangeAspect="1"/>
          </p:cNvPicPr>
          <p:nvPr/>
        </p:nvPicPr>
        <p:blipFill>
          <a:blip r:embed="rId2"/>
          <a:stretch>
            <a:fillRect/>
          </a:stretch>
        </p:blipFill>
        <p:spPr>
          <a:xfrm>
            <a:off x="880035" y="1965960"/>
            <a:ext cx="10431624"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LFP–LFP coherence rises, but the artifact-resistant cross-region spike–field measure does not — parsimoniously a shared signal, not interaction.</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4 · Limits, and the next study</a:t>
            </a:r>
          </a:p>
        </p:txBody>
      </p:sp>
      <p:sp>
        <p:nvSpPr>
          <p:cNvPr id="5" name="TextBox 4"/>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LIMITATION</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Entrainment was untestable — a measurement gap, not a null</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Our acquisition was not equipped to test entrainment: no time-aligned stimulus-phase reference was recorded — so phase-following is untestable here, not negative.</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DIAGNOSIS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The digital sync channel never captured the carrier</a:t>
            </a:r>
          </a:p>
        </p:txBody>
      </p:sp>
      <p:pic>
        <p:nvPicPr>
          <p:cNvPr id="5" name="Picture 4" descr="ttl_cannot_recover_tactor_phase.png"/>
          <p:cNvPicPr>
            <a:picLocks noChangeAspect="1"/>
          </p:cNvPicPr>
          <p:nvPr/>
        </p:nvPicPr>
        <p:blipFill>
          <a:blip r:embed="rId2"/>
          <a:stretch>
            <a:fillRect/>
          </a:stretch>
        </p:blipFill>
        <p:spPr>
          <a:xfrm>
            <a:off x="2546197" y="1965960"/>
            <a:ext cx="7099300"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The recorded sync line updated at ~4 Hz, independent of carrier (identical pulse counts at 5 vs 26 Hz; ~78 expected at 26 Hz). No phase reference exists in the data.</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FIX</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Fix: redundant, clock-shared stimulus references</a:t>
            </a:r>
          </a:p>
        </p:txBody>
      </p:sp>
      <p:pic>
        <p:nvPicPr>
          <p:cNvPr id="5" name="Picture 4" descr="fix.png"/>
          <p:cNvPicPr>
            <a:picLocks noChangeAspect="1"/>
          </p:cNvPicPr>
          <p:nvPr/>
        </p:nvPicPr>
        <p:blipFill>
          <a:blip r:embed="rId2"/>
          <a:stretch>
            <a:fillRect/>
          </a:stretch>
        </p:blipFill>
        <p:spPr>
          <a:xfrm>
            <a:off x="2179739" y="1965960"/>
            <a:ext cx="7832215"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Firmware per-cycle sync + a transduced force/accelerometer signal + a drive-signal copy, all on the acquisition clock — cross-checked, with pre-session verification.</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5 · How it fits the program</a:t>
            </a:r>
          </a:p>
        </p:txBody>
      </p:sp>
      <p:sp>
        <p:nvSpPr>
          <p:cNvPr id="5" name="TextBox 4"/>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ROLE OF THIS STUDY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This study de-risks the program's core premise</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It shows peripheral vibration reaches AD-relevant medial-temporal circuits and that those neurons are frequency-tuned (peak ~50 Hz) — directly answering the 'steady-state ≠ engagement' objection.</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KEY REFERENCES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Key references</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Lifestyle: Ngandu 2015 (FINGER) · Baker 2025 (US POINTER).  Clearance: Iliff 2012 · Xie 2013 · Mawuenyega 2010 · Murdock 2024 (40 Hz → glymphatic) · Aryal 2022 / Azadian 2025 (focused ultrasound).  Stimulation: Tsai 2016 (GENUS) · Suk 2023 (40 Hz tactile) · Jiang-Xie–Kipnis 2024 (neural dynamics → CSF).  Guardrail: Buzsáki / Soula (steady-state ≠ entrainment).</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om_logo_white.png"/>
          <p:cNvPicPr>
            <a:picLocks noChangeAspect="1"/>
          </p:cNvPicPr>
          <p:nvPr/>
        </p:nvPicPr>
        <p:blipFill>
          <a:blip r:embed="rId2"/>
          <a:stretch>
            <a:fillRect/>
          </a:stretch>
        </p:blipFill>
        <p:spPr>
          <a:xfrm>
            <a:off x="502920" y="457200"/>
            <a:ext cx="3291840" cy="420624"/>
          </a:xfrm>
          <a:prstGeom prst="rect">
            <a:avLst/>
          </a:prstGeom>
        </p:spPr>
      </p:pic>
      <p:sp>
        <p:nvSpPr>
          <p:cNvPr id="5" name="TextBox 4"/>
          <p:cNvSpPr txBox="1"/>
          <p:nvPr/>
        </p:nvSpPr>
        <p:spPr>
          <a:xfrm>
            <a:off x="914400" y="2743200"/>
            <a:ext cx="8534095" cy="1463040"/>
          </a:xfrm>
          <a:prstGeom prst="rect">
            <a:avLst/>
          </a:prstGeom>
          <a:noFill/>
        </p:spPr>
        <p:txBody>
          <a:bodyPr wrap="square" anchor="ctr">
            <a:spAutoFit/>
          </a:bodyPr>
          <a:lstStyle/>
          <a:p>
            <a:pPr algn="l"/>
            <a:r>
              <a:rPr sz="3400" b="1">
                <a:solidFill>
                  <a:srgbClr val="FFFFFF"/>
                </a:solidFill>
                <a:latin typeface="Calibri"/>
              </a:rPr>
              <a:t>Thank you — questions</a:t>
            </a:r>
          </a:p>
        </p:txBody>
      </p:sp>
      <p:sp>
        <p:nvSpPr>
          <p:cNvPr id="6" name="TextBox 5"/>
          <p:cNvSpPr txBox="1"/>
          <p:nvPr/>
        </p:nvSpPr>
        <p:spPr>
          <a:xfrm>
            <a:off x="914400" y="3840480"/>
            <a:ext cx="8534095" cy="1097280"/>
          </a:xfrm>
          <a:prstGeom prst="rect">
            <a:avLst/>
          </a:prstGeom>
          <a:noFill/>
        </p:spPr>
        <p:txBody>
          <a:bodyPr wrap="square" anchor="t">
            <a:spAutoFit/>
          </a:bodyPr>
          <a:lstStyle/>
          <a:p>
            <a:pPr algn="l"/>
            <a:r>
              <a:rPr sz="1700" b="0">
                <a:solidFill>
                  <a:srgbClr val="D7D2CB"/>
                </a:solidFill>
                <a:latin typeface="Calibri"/>
              </a:rPr>
              <a:t>Happy to go into any figure, the artifact controls, the parameter plan, or the next-round instrumentation.</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
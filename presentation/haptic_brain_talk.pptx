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question: does peripheral haptic stimulation produce a measurable, frequency-specific response in central circuits, and can it entrain neural activity? I'll define the few neuroscience-specific terms (LFP, single units, entrainment, spike sorting) as they come up; everything else assumes general research literacy. ~35 min — please interrupt.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There's growing interest in modulating brain state non-invasively through the periphery — the skin is the most accessible, lowest-risk interface. But the foundational, under-characterized question is whether peripheral haptic input produces a reliable, frequency-specific central response, and whether it can entrain endogenous activity (the precondition for 'driving' a rhythm). This study characterizes that response at two levels — field potentials and single neurons — and, importantly, the controls needed to interpret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tactor delivers a sinusoidal vibration in 3 s ON / 3 s OFF blocks (figure shows the trial structure and the analysis windows we use). We vary carrier frequency — 5, 10, 26, 50 Hz — and amplitude, ~200 trials per condition, while recording extracellularly with linear silicon probes in two regions simultaneously. Each analysis window is referenced to the 1 s pre-stimulus baseline; 100 ms margins isolate onset/offset transients from sustained activity.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Three levels: detection (any response?), tuning (specific to stimulus frequency/amplitude?), and entrainment (do neural signals phase-lock to the stimulus waveform?). Entrainment is the strongest claim and the one that would justify peripheral rhythm-driving — and, as you'll see, the one we could not test, for an instructive instrumentation reason.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For non-neuroscientists: the hippocampus supports spatial navigation and episodic memory; the entorhinal cortex is its principal cortical input/output interface. They form a tightly coupled circuit, so recording both lets us ask not only whether each responds but whether they interact.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 extracellular electrode captures two regimes. The local field potential (LFP) is the low-frequency aggregate of synaptic and transmembrane currents from many neurons — large and easy to measure, but spatially non-specific and susceptible to volume-conducted or instrumental noise. Single-unit activity is the spiking of individual neurons, isolated by spike sorting — sparser and harder to extract, but each spike is a discrete, unambiguous biological event. Intuition: a stadium microphone hears both the crowd's aggregate roar (LFP) and individual shouts (spikes); the roar is loud but can be contaminated by, say, a PA hum, whereas an identified shout is real. This LFP-vs-single-unit distinction is the crux of the entire talk.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asymmetry that drives the whole analysis: an electrical artifact can add power to the LFP at the stimulus frequency, but it cannot make a waveform-isolated, sorted neuron emit an action potential. So when we want to claim a genuine neural effect — rather than instrumental pickup — single-unit firing-rate changes are the evidence that survives scrutiny. Keep this asymmetry in mind; it resolves the central twist of the results.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broadband LFP shows a clear, amplitude-graded response — but it is concentrated at the ON and OFF transitions: an evoked transient, not a sustained oscillation at the drive frequency. Conceptually it's the difference between responding to the event of stimulation versus tracking its rhythm. So 'there is a response' — but not yet frequency-following.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Entrainment here means neural activity phase-locks to the periodic stimulus — a driven-oscillator relationship, analogous to resonantly pumping a pendulum. If these circuits entrained to a 50 Hz drive, we'd see neural power and spike timing organized at 50 Hz. That is the result that would justify driving a brain rhythm from the periphery. So: is there frequency-following?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test: frequency-following predicts a narrowband peak at the carrier above the 1/f aperiodic background, and above-chance inter-trial phase clustering (ITPC). We see neither, at any carrier, replicated across two sessions on the same probe. So no power- or phase-based frequency-following in hippocampus.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entorhinal cortex there is a narrowband 50 Hz LFP power increase that scales with stimulus amplitude — superficially the entrainment signal we want. But recall the asymmetry: the LFP is precisely the readout that electrical pickup can mimic. So before interpreting it as neural, we have to exclude a stimulator-coupled artifact.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actuator and its drive electronics can couple a 50 Hz signal into the recording — volume-conducted through tissue or via the wiring. In the LFP that is indistinguishable from a neural 50 Hz oscillation (the PA-hum case of the stadium analogy). We need a discriminator the artifact cannot fool.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discriminator: broken/disconnected channels cannot record neural activity but still act as antennas for electrical pickup. If they carry the 50 Hz, it is instrumental, not neural. They do — ~6× the in-tissue channels — so the entorhinal 50 Hz LFP is largely (not necessarily entirely) stimulator artifact. The headline LFP result is mostly the machine. This is the central twist.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Now the artifact-resistant readout: sorted single units change firing rate during the high-amplitude 50 Hz condition, in both regions, and far more than at lower carriers. Because pickup cannot drive a sorted neuron's spike train, this is the clean evidence. Question 2 — frequency specificity — is answered: 50 Hz is privileged, and the Dec-3 single-unit null is explained (Dec 3 only tested 5/26 Hz, where there is no effect).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Two controls against residual artifact. (1) Spike detection operates on the &gt;~300 Hz band, so the 50 Hz LFP/pickup is filtered out before a spike is detected. (2) Were pickup nonetheless injecting spurious spikes at 50 Hz, the spike-train autocorrelogram would develop 20 ms periodicity during stimulation — it does not, and is identical ON vs OFF; refractory-violation rates also do not rise during ON. So the rate modulation is genuine single-unit activity. (Unit 87, the most exposed up-going unit, passes both screens.)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two regions transform the same input in opposite directions: a hippocampal subset increases firing (a few strongly driven units carry the positive mean), while entorhinal cortex is net-suppressed (~10/15 units down). Opposite-signed responses to identical input are inconsistent with a passive, volume-conducted relay and consistent with circuit-specific processing. The suppression is also intrinsically artifact-resistant — additive pickup adds, it cannot remove, spikes.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 the regions interact at 50 Hz? LFP–LFP coherence increases — but a shared pickup inflates coherence, so that's the artifact-prone measure. The spike–field measure (one region's spikes vs the other region's LFP phase), which a shared LFP artifact cannot fake as easily, does not increase with stimulation. So the apparent coupling is most parsimoniously a shared signal, not genuine coordination.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Critically: testing entrainment (phase-locking) requires a time-aligned reference for the stimulus phase. We did not record a usable one — so 'no entrainment shown' is a measurement gap, not evidence of absence. Distinguishing 'untestable' from 'tested-and-negative' is essential for honest claims. (Note: the power/periodicity negatives above are real and testable; only the phase-locking claim is gated by the missing reference.)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 verified this directly from the raw digital stream: the channel intended as a sync updated at ~4 Hz irrespective of carrier (the same ~6 pulses/trial for 5 and 26 Hz; ~78 expected at 26 Hz), never sustained a run at the carrier period anywhere in the 3 h session, and was misaligned with the trial schedule. It is undersampled and decoupled from the stimulus — so phase is unrecoverable. Sampling intuition: a ~4 Hz observer cannot resolve a 26 Hz oscillation.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fix is design, not analysis: record the stimulus three ways on the acquisition clock — a firmware-emitted per-cycle marker (now implemented), a transduced measurement of the delivered vibration (PVDF or accelerometer, which also verifies delivery and captures mechanical phase), and a copy of the drive signal — then cross-validate, plus a short verification recording before the session. With redundancy on a shared clock, any single failed reference is caught immediately rather than months later in analysis.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 summarize: (1) peripheral haptic stimulation produces a genuine central response; (2) the most rigorous evidence is frequency-specific, region-specific single-unit rate modulation at 50 Hz / high amplitude — driven-up subset in hippocampus, net suppression in entorhinal cortex; (3) the entorhinal 50 Hz LFP is largely stimulator artifact, established by the disconnected-channel control; (4) entrainment was untestable for want of a stimulus-phase reference — a fixable instrumentation gap, not a biological null. Caveats: single animal; modest responder fraction; an arousal/indirect-pathway contribution can't be fully excluded.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Implications: this establishes that peripheral haptic stimulation has a measurable, frequency-specific central signature — and, equally important, the methodological controls needed to separate neural signal from stimulator artifact (the disconnected-channel test, the high-pass/ACG/ISI spike screens). With the shared-clock stimulus recording, entrainment becomes directly testable — the gateway question for closed-loop peripheral neuromodulation.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Anticipated questions. 'Is 50 Hz special or just strongest?' — strongest clean single-unit effect of the carriers tested; the LFP transient was largest at 26 Hz but that's the artifact-prone/non-specific measure. 'Could it be arousal?' — possible, but it's frequency-specific (50 ≫ 26 at matched amplitude), which argues against pure intensity-driven arousal; an indirect sensory/state pathway is not excluded. 'Why distrust the 50 Hz LFP?' — disconnected channels carry it at ~6× tissue levels.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8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9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10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1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1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1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4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5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16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1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19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notesSlide" Target="../notesSlides/notesSlide20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E2D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572000"/>
            <a:ext cx="12191695" cy="73152"/>
          </a:xfrm>
          <a:prstGeom prst="rect">
            <a:avLst/>
          </a:prstGeom>
          <a:solidFill>
            <a:srgbClr val="8C15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362895" cy="1463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Calibri"/>
              </a:rPr>
              <a:t>Can we drive the brain through the skin?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383280"/>
            <a:ext cx="10362895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D7D2CB"/>
                </a:solidFill>
                <a:latin typeface="Calibri"/>
              </a:rPr>
              <a:t>Single-unit and LFP responses to amplitude- and frequency-varied haptic stimulation in hippocampus &amp; entorhinal cortex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846320"/>
            <a:ext cx="1036289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9A958C"/>
                </a:solidFill>
                <a:latin typeface="Calibri"/>
              </a:rPr>
              <a:t>Pardis Miri  ·  Buzsáki Lab  ·  haptic-stimulation electrophysiology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8C15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94415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2E2D29"/>
                </a:solidFill>
                <a:latin typeface="Calibri"/>
              </a:rPr>
              <a:t>Motivation: peripheral routes to non-invasive neuromodulation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035040"/>
            <a:ext cx="12191695" cy="82296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062472"/>
            <a:ext cx="11094415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8C1515"/>
                </a:solidFill>
                <a:latin typeface="Calibri"/>
              </a:rPr>
              <a:t>Before targeting brain states via the skin, we need to know whether — and how — a cutaneous stimulus is represented centrally.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8C15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94415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2E2D29"/>
                </a:solidFill>
                <a:latin typeface="Calibri"/>
              </a:rPr>
              <a:t>Design: parametric haptic stimulation with simultaneous electrophysiology</a:t>
            </a:r>
          </a:p>
        </p:txBody>
      </p:sp>
      <p:pic>
        <p:nvPicPr>
          <p:cNvPr id="4" name="Picture 3" descr="trial_window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4917" y="1554480"/>
            <a:ext cx="9161859" cy="43434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6035040"/>
            <a:ext cx="12191695" cy="82296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062472"/>
            <a:ext cx="11094415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8C1515"/>
                </a:solidFill>
                <a:latin typeface="Calibri"/>
              </a:rPr>
              <a:t>3 s ON / 3 s OFF blocks across four carrier frequencies (5/10/26/50 Hz) and three amplitudes; ~200 repeats/condition; dual-region linear-probe recording.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8C15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94415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2E2D29"/>
                </a:solidFill>
                <a:latin typeface="Calibri"/>
              </a:rPr>
              <a:t>Three questions, increasing in strength of claim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035040"/>
            <a:ext cx="12191695" cy="82296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062472"/>
            <a:ext cx="11094415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8C1515"/>
                </a:solidFill>
                <a:latin typeface="Calibri"/>
              </a:rPr>
              <a:t>(1) Is there a central response?   (2) Is it frequency-specific?   (3) Does it entrain neural activity (phase-locking)?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8C15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468880"/>
            <a:ext cx="10362895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Calibri"/>
              </a:rPr>
              <a:t>Part 1 — Two readouts, two regions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749039"/>
            <a:ext cx="103628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0">
                <a:solidFill>
                  <a:srgbClr val="EDDDDD"/>
                </a:solidFill>
                <a:latin typeface="Calibri"/>
              </a:rPr>
              <a:t>The minimum background, with the key methodological distinction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8C15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94415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2E2D29"/>
                </a:solidFill>
                <a:latin typeface="Calibri"/>
              </a:rPr>
              <a:t>Recording sites: hippocampus and entorhinal cortex</a:t>
            </a:r>
          </a:p>
        </p:txBody>
      </p:sp>
      <p:pic>
        <p:nvPicPr>
          <p:cNvPr id="4" name="Picture 3" descr="two_reg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5952" y="1554480"/>
            <a:ext cx="10559790" cy="43434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6035040"/>
            <a:ext cx="12191695" cy="82296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062472"/>
            <a:ext cx="11094415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8C1515"/>
                </a:solidFill>
                <a:latin typeface="Calibri"/>
              </a:rPr>
              <a:t>Entorhinal cortex = principal cortical input to hippocampus; hippocampus = spatial/mnemonic processing. A connected circuit, recorded simultaneously.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8C15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9441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8C1515"/>
                </a:solidFill>
                <a:latin typeface="Calibri"/>
              </a:rPr>
              <a:t>KEY METHODOLOGICAL DISTINCTION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1094415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2E2D29"/>
                </a:solidFill>
                <a:latin typeface="Calibri"/>
              </a:rPr>
              <a:t>One electrode yields two readouts: LFP and single-unit activity</a:t>
            </a:r>
          </a:p>
        </p:txBody>
      </p:sp>
      <p:pic>
        <p:nvPicPr>
          <p:cNvPr id="5" name="Picture 4" descr="stadiu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4140" y="1965960"/>
            <a:ext cx="8163414" cy="393192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6035040"/>
            <a:ext cx="12191695" cy="82296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062472"/>
            <a:ext cx="11094415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8C1515"/>
                </a:solidFill>
                <a:latin typeface="Calibri"/>
              </a:rPr>
              <a:t>LFP = low-frequency aggregate field (synaptic/transmembrane currents of many cells). Spikes = action potentials of individual, sorted neurons. They differ in what can fake them.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8C15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9441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8C1515"/>
                </a:solidFill>
                <a:latin typeface="Calibri"/>
              </a:rPr>
              <a:t>WHY IT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1094415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2E2D29"/>
                </a:solidFill>
                <a:latin typeface="Calibri"/>
              </a:rPr>
              <a:t>Single units are the more conservative readout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035040"/>
            <a:ext cx="12191695" cy="82296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062472"/>
            <a:ext cx="11094415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8C1515"/>
                </a:solidFill>
                <a:latin typeface="Calibri"/>
              </a:rPr>
              <a:t>A sorted action potential is a discrete biological event; the LFP can be mimicked by volume-conducted electrical artifact. Spikes constrain interpretation far more tightly.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8C15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468880"/>
            <a:ext cx="10362895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Calibri"/>
              </a:rPr>
              <a:t>Part 2 — Results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8C15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9441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8C1515"/>
                </a:solidFill>
                <a:latin typeface="Calibri"/>
              </a:rPr>
              <a:t>FINDING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1094415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2E2D29"/>
                </a:solidFill>
                <a:latin typeface="Calibri"/>
              </a:rPr>
              <a:t>A robust LFP response — transition-weighted, not a sustained oscillation</a:t>
            </a:r>
          </a:p>
        </p:txBody>
      </p:sp>
      <p:pic>
        <p:nvPicPr>
          <p:cNvPr id="5" name="Picture 4" descr="transition_index_condi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0097" y="1965960"/>
            <a:ext cx="8191500" cy="393192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6035040"/>
            <a:ext cx="12191695" cy="82296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062472"/>
            <a:ext cx="11094415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8C1515"/>
                </a:solidFill>
                <a:latin typeface="Calibri"/>
              </a:rPr>
              <a:t>The broadband LFP responds at stimulus onset/offset (an evoked transient), not as a sustained rhythm at the carrier frequency.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8C15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9441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8C1515"/>
                </a:solidFill>
                <a:latin typeface="Calibri"/>
              </a:rPr>
              <a:t>DEFINITION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1094415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2E2D29"/>
                </a:solidFill>
                <a:latin typeface="Calibri"/>
              </a:rPr>
              <a:t>Entrainment, defined: phase-locking of neural activity to the stimulus</a:t>
            </a:r>
          </a:p>
        </p:txBody>
      </p:sp>
      <p:pic>
        <p:nvPicPr>
          <p:cNvPr id="5" name="Picture 4" descr="entrain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2111" y="1965960"/>
            <a:ext cx="9167471" cy="393192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6035040"/>
            <a:ext cx="12191695" cy="82296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062472"/>
            <a:ext cx="11094415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8C1515"/>
                </a:solidFill>
                <a:latin typeface="Calibri"/>
              </a:rPr>
              <a:t>Entrainment = endogenous activity aligns to the stimulus phase (a driven-oscillator relationship). The strong claim — and the most useful, if true.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8C15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9441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8C1515"/>
                </a:solidFill>
                <a:latin typeface="Calibri"/>
              </a:rPr>
              <a:t>FINDING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1094415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2E2D29"/>
                </a:solidFill>
                <a:latin typeface="Calibri"/>
              </a:rPr>
              <a:t>No frequency-following in hippocampus at any carrier</a:t>
            </a:r>
          </a:p>
        </p:txBody>
      </p:sp>
      <p:pic>
        <p:nvPicPr>
          <p:cNvPr id="5" name="Picture 4" descr="spectral_slope_itpc_dec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9247" y="1965960"/>
            <a:ext cx="6553200" cy="393192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6035040"/>
            <a:ext cx="12191695" cy="82296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062472"/>
            <a:ext cx="11094415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8C1515"/>
                </a:solidFill>
                <a:latin typeface="Calibri"/>
              </a:rPr>
              <a:t>No narrowband spectral peak above the 1/f background, and inter-trial phase consistency at chance — across 5/10/26/50 Hz, replicated across sessions.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8C15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9441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8C1515"/>
                </a:solidFill>
                <a:latin typeface="Calibri"/>
              </a:rPr>
              <a:t>FINDING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1094415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2E2D29"/>
                </a:solidFill>
                <a:latin typeface="Calibri"/>
              </a:rPr>
              <a:t>Entorhinal cortex shows an amplitude-graded 50 Hz LFP increase</a:t>
            </a:r>
          </a:p>
        </p:txBody>
      </p:sp>
      <p:pic>
        <p:nvPicPr>
          <p:cNvPr id="5" name="Picture 4" descr="driven_power_change_by_analysis_gro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19" y="1965960"/>
            <a:ext cx="10728655" cy="2043553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6035040"/>
            <a:ext cx="12191695" cy="82296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062472"/>
            <a:ext cx="11094415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8C1515"/>
                </a:solidFill>
                <a:latin typeface="Calibri"/>
              </a:rPr>
              <a:t>A narrowband 50 Hz LFP power increase, scaling with amplitude — the candidate entrainment signal. But the LFP is exactly the readout most vulnerable to artifact.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8C15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9441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8C1515"/>
                </a:solidFill>
                <a:latin typeface="Calibri"/>
              </a:rPr>
              <a:t>THE CONFOUND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1094415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2E2D29"/>
                </a:solidFill>
                <a:latin typeface="Calibri"/>
              </a:rPr>
              <a:t>The confound: stimulator-coupled 50 Hz electrical artifact</a:t>
            </a:r>
          </a:p>
        </p:txBody>
      </p:sp>
      <p:pic>
        <p:nvPicPr>
          <p:cNvPr id="5" name="Picture 4" descr="tr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4039" y="1965960"/>
            <a:ext cx="8643615" cy="393192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6035040"/>
            <a:ext cx="12191695" cy="82296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062472"/>
            <a:ext cx="11094415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8C1515"/>
                </a:solidFill>
                <a:latin typeface="Calibri"/>
              </a:rPr>
              <a:t>An electromechanical actuator can inject a 50 Hz electrical artifact directly into the recording — indistinguishable from a neural 50 Hz in the LFP alone.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8C15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9441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8C1515"/>
                </a:solidFill>
                <a:latin typeface="Calibri"/>
              </a:rPr>
              <a:t>FINDING 3, CONTROLLED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1094415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2E2D29"/>
                </a:solidFill>
                <a:latin typeface="Calibri"/>
              </a:rPr>
              <a:t>Disconnected channels carry the 50 Hz — so it is largely pickup</a:t>
            </a:r>
          </a:p>
        </p:txBody>
      </p:sp>
      <p:pic>
        <p:nvPicPr>
          <p:cNvPr id="5" name="Picture 4" descr="50hz_pickup_gradient_dhpc_vs_le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19" y="1965960"/>
            <a:ext cx="10728655" cy="3796293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6035040"/>
            <a:ext cx="12191695" cy="82296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062472"/>
            <a:ext cx="11094415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8C1515"/>
                </a:solidFill>
                <a:latin typeface="Calibri"/>
              </a:rPr>
              <a:t>QC-failed/disconnected electrodes (which cannot record neural signal) show ~6× more 50 Hz than in-tissue channels. The entorhinal 50 Hz LFP is substantially artifact.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8C15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9441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8C1515"/>
                </a:solidFill>
                <a:latin typeface="Calibri"/>
              </a:rPr>
              <a:t>FINDING 4 — THE ROBUST RESULT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1094415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2E2D29"/>
                </a:solidFill>
                <a:latin typeface="Calibri"/>
              </a:rPr>
              <a:t>Frequency-specific single-unit rate modulation at 50 Hz</a:t>
            </a:r>
          </a:p>
        </p:txBody>
      </p:sp>
      <p:pic>
        <p:nvPicPr>
          <p:cNvPr id="5" name="Picture 4" descr="spike_onoff_cross_datas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19" y="1965960"/>
            <a:ext cx="10728655" cy="3121063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6035040"/>
            <a:ext cx="12191695" cy="82296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062472"/>
            <a:ext cx="11094415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8C1515"/>
                </a:solidFill>
                <a:latin typeface="Calibri"/>
              </a:rPr>
              <a:t>Sorted single units change firing rate during 50 Hz / high-amplitude stimulation, in both regions — an effect electrical pickup cannot produce.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8C15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9441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8C1515"/>
                </a:solidFill>
                <a:latin typeface="Calibri"/>
              </a:rPr>
              <a:t>CONTROLS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1094415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2E2D29"/>
                </a:solidFill>
                <a:latin typeface="Calibri"/>
              </a:rPr>
              <a:t>Controls: high-pass separation + autocorrelogram / ISI screens</a:t>
            </a:r>
          </a:p>
        </p:txBody>
      </p:sp>
      <p:pic>
        <p:nvPicPr>
          <p:cNvPr id="5" name="Picture 4" descr="unit87_acg_artifact_scre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19" y="1965960"/>
            <a:ext cx="10728655" cy="2795952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6035040"/>
            <a:ext cx="12191695" cy="82296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062472"/>
            <a:ext cx="11094415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8C1515"/>
                </a:solidFill>
                <a:latin typeface="Calibri"/>
              </a:rPr>
              <a:t>Spikes are detected &gt;~300 Hz (50 Hz pickup is removed pre-detection); units show no stimulus-locked 50 Hz periodicity and no ON-rise in refractory violations.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8C15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9441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8C1515"/>
                </a:solidFill>
                <a:latin typeface="Calibri"/>
              </a:rPr>
              <a:t>FINDING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1094415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2E2D29"/>
                </a:solidFill>
                <a:latin typeface="Calibri"/>
              </a:rPr>
              <a:t>Region-specific, bidirectional modulation — not a passive relay</a:t>
            </a:r>
          </a:p>
        </p:txBody>
      </p:sp>
      <p:pic>
        <p:nvPicPr>
          <p:cNvPr id="5" name="Picture 4" descr="spike_50hz_interpret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9624" y="1965960"/>
            <a:ext cx="7652446" cy="393192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6035040"/>
            <a:ext cx="12191695" cy="82296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062472"/>
            <a:ext cx="11094415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8C1515"/>
                </a:solidFill>
                <a:latin typeface="Calibri"/>
              </a:rPr>
              <a:t>Hippocampus: a driven-up subset. Entorhinal cortex: net-suppressed. Opposite transformations of identical input argue for active, circuit-specific processing.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8C15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9441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8C1515"/>
                </a:solidFill>
                <a:latin typeface="Calibri"/>
              </a:rPr>
              <a:t>FINDING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1094415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2E2D29"/>
                </a:solidFill>
                <a:latin typeface="Calibri"/>
              </a:rPr>
              <a:t>No clear cross-regional coordination at 50 Hz</a:t>
            </a:r>
          </a:p>
        </p:txBody>
      </p:sp>
      <p:pic>
        <p:nvPicPr>
          <p:cNvPr id="5" name="Picture 4" descr="coordination_50hz_pool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0035" y="1965960"/>
            <a:ext cx="10431624" cy="393192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6035040"/>
            <a:ext cx="12191695" cy="82296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062472"/>
            <a:ext cx="11094415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8C1515"/>
                </a:solidFill>
                <a:latin typeface="Calibri"/>
              </a:rPr>
              <a:t>LFP–LFP coherence rises, but the artifact-resistant cross-region spike–field measure does not — parsimoniously a shared signal, not interaction.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8C15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468880"/>
            <a:ext cx="10362895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Calibri"/>
              </a:rPr>
              <a:t>Part 3 — The entrainment question, and an instrumentation limit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8C15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9441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8C1515"/>
                </a:solidFill>
                <a:latin typeface="Calibri"/>
              </a:rPr>
              <a:t>THE LIMITATION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1094415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2E2D29"/>
                </a:solidFill>
                <a:latin typeface="Calibri"/>
              </a:rPr>
              <a:t>Entrainment was untestable — a measurement gap, not a null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035040"/>
            <a:ext cx="12191695" cy="82296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062472"/>
            <a:ext cx="11094415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8C1515"/>
                </a:solidFill>
                <a:latin typeface="Calibri"/>
              </a:rPr>
              <a:t>Phase-locking to the stimulus requires a recorded, time-aligned stimulus-phase reference. We lacked one — so entrainment is untestable here, not negative.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8C15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9441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8C1515"/>
                </a:solidFill>
                <a:latin typeface="Calibri"/>
              </a:rPr>
              <a:t>DIAGNOSIS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1094415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2E2D29"/>
                </a:solidFill>
                <a:latin typeface="Calibri"/>
              </a:rPr>
              <a:t>The digital sync channel never captured the carrier</a:t>
            </a:r>
          </a:p>
        </p:txBody>
      </p:sp>
      <p:pic>
        <p:nvPicPr>
          <p:cNvPr id="5" name="Picture 4" descr="ttl_cannot_recover_tactor_pha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6197" y="1965960"/>
            <a:ext cx="7099300" cy="393192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6035040"/>
            <a:ext cx="12191695" cy="82296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062472"/>
            <a:ext cx="11094415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8C1515"/>
                </a:solidFill>
                <a:latin typeface="Calibri"/>
              </a:rPr>
              <a:t>The recorded sync line updated at ~4 Hz, independent of carrier (identical pulse counts at 5 vs 26 Hz; ~78 expected at 26 Hz). No phase reference exists in the data.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8C15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9441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8C1515"/>
                </a:solidFill>
                <a:latin typeface="Calibri"/>
              </a:rPr>
              <a:t>THE FIX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1094415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2E2D29"/>
                </a:solidFill>
                <a:latin typeface="Calibri"/>
              </a:rPr>
              <a:t>Fix: redundant, clock-shared stimulus references</a:t>
            </a:r>
          </a:p>
        </p:txBody>
      </p:sp>
      <p:pic>
        <p:nvPicPr>
          <p:cNvPr id="5" name="Picture 4" descr="f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9739" y="1965960"/>
            <a:ext cx="7832215" cy="393192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6035040"/>
            <a:ext cx="12191695" cy="82296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062472"/>
            <a:ext cx="11094415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8C1515"/>
                </a:solidFill>
                <a:latin typeface="Calibri"/>
              </a:rPr>
              <a:t>Firmware per-cycle sync + a transduced force/accelerometer signal + a drive-signal copy, all on the acquisition clock — cross-checked, with pre-session verification.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8C15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9441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8C1515"/>
                </a:solidFill>
                <a:latin typeface="Calibri"/>
              </a:rPr>
              <a:t>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1094415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2E2D29"/>
                </a:solidFill>
                <a:latin typeface="Calibri"/>
              </a:rPr>
              <a:t>Summary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035040"/>
            <a:ext cx="12191695" cy="82296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062472"/>
            <a:ext cx="11094415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8C1515"/>
                </a:solidFill>
                <a:latin typeface="Calibri"/>
              </a:rPr>
              <a:t>Genuine central response to haptic stimulation; cleanest evidence is frequency-specific, region-specific single-unit modulation at 50 Hz; the 50 Hz LFP is largely artifact; entrainment untestable here.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8C15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9441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8C1515"/>
                </a:solidFill>
                <a:latin typeface="Calibri"/>
              </a:rPr>
              <a:t>IMPLICATIONS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1094415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2E2D29"/>
                </a:solidFill>
                <a:latin typeface="Calibri"/>
              </a:rPr>
              <a:t>Implications &amp; next step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035040"/>
            <a:ext cx="12191695" cy="82296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062472"/>
            <a:ext cx="11094415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8C1515"/>
                </a:solidFill>
                <a:latin typeface="Calibri"/>
              </a:rPr>
              <a:t>Establishes a measurable central readout of peripheral haptic input and the controls to interpret it; with the instrumentation fix, entrainment becomes directly testable.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E2D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572000"/>
            <a:ext cx="12191695" cy="73152"/>
          </a:xfrm>
          <a:prstGeom prst="rect">
            <a:avLst/>
          </a:prstGeom>
          <a:solidFill>
            <a:srgbClr val="8C15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10362895" cy="1463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Calibri"/>
              </a:rPr>
              <a:t>Thank you — questions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840480"/>
            <a:ext cx="10362895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D7D2CB"/>
                </a:solidFill>
                <a:latin typeface="Calibri"/>
              </a:rPr>
              <a:t>Happy to go into any figure, the artifact controls, or the next-round instrumentation.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
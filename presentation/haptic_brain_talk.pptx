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Today: a simple-sounding question with a surprisingly subtle answer. If you buzz someone's skin, does it actually change what their brain is doing — and can the brain 'tune in' to the rhythm of the buzz? No neuroscience background needed; I'll build up every idea with an analogy. (~35 min, stop me with questions.)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Big picture first. There's huge interest in wearables that touch your skin to shift a brain state — to help you sleep, focus, calm down, or aid therapy after injury. The skin is the easiest, safest door to the nervous system. But before any of that, we need the unglamorous groundwork: if I buzz the body, (1) does the brain even notice, (2) does it matter how FAST I buzz, and (3) can the brain lock onto the rhythm of the buzz? That third one — 'marching in step' with the stimulus — is the holy grail, because that's how you'd drive a brain rhythm on purpose. That's what this project chips away at.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whole setup in plain terms. We put a little vibrating motor — a 'tactor', like the buzz in your phone — on the body. We buzz it for 3 seconds, then rest 3 seconds, over and over. We try different buzz SPEEDS: 5, 10, 26, and 50 buzzes per second. And different strengths. While that happens, we listen to the brain with fine electrodes. Then we ask: what changed in the brain during the buzz versus the rest?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these three questions in your head — the whole talk answers them. One: does the brain register the buzz at all? Two: does it care how fast we buzz — is 50/sec different from 26/sec? Three, the big one: does the brain 'entrain' — literally oscillate in lockstep with the buzz, like marching to a drumbeat? Spoiler: yes, yes-ish, and 'we couldn't fully test it' — and WHY we couldn't is one of the most useful things we learned.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recorded from two spots that talk to each other: the hippocampus — think of it as the brain's inner GPS and memory-maker — and right next to it the entorhinal cortex, which is the hippocampus's main inbox, where a lot of sensory information arrives. So: two listening posts in a circuit that handles where-you-are and what-just-happened. Don't worry about the names; just 'two connected regions.'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single most important idea in the talk, so here's the analogy I want you to remember. Imagine a microphone hung over a packed stadium. You hear TWO things. First, the low ROAR of the whole crowd — rising and falling together. In the brain that's the 'field potential' (the LFP): the blended, slow electrical hum of thousands of cells. Second, if you listen closely, individual people SHOUTING — sharp, brief, distinct. In the brain those are 'spikes': single neurons firing, each a crisp ~1-millisecond blip. The crowd murmur is easy to hear but vague; the individual voices are harder to pick out but tell you exactly who said what. We'll use BOTH — and the difference between them is the whole plot.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care about the hard-to-hear individual voices? Because they're trustworthy. The crowd murmur can be contaminated by all sorts of background noise — a passing truck, a buzzing speaker. But an individual, identified shout is a real event from a real person. Same in the brain: a sorted single-neuron spike is a genuine cell doing its thing, and — as we'll see — it's much harder for the equipment's own electrical noise to fake one. Hold that thought; it becomes the hero of the story.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result. The crowd-murmur signal clearly changes when we buzz — so yes, the brain notices. But HOW it responds matters. It mostly reacts to the buzz turning ON and OFF — the transitions — not by settling into the buzz's rhythm. Analogy: a doorbell. Your attention spikes when it RINGS and when it STOPS, but you don't start vibrating at the doorbell's pitch. So far: the brain registers the event, but isn't obviously 'tuning in.' Which raises question 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dream is 'entrainment': the brain's own electrical waves locking onto the rhythm of the buzz. Analogy: pushing a child's swing. If you push exactly in time with the swing, it goes higher and higher — your rhythm drives its rhythm. If the brain entrained to a 50-per-second buzz, we'd see brain activity ticking along at 50 per second. That would be powerful — it'd mean you can DIAL IN a brain rhythm from the skin. So: does the brain hum along at the buzz frequency? Let's look.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test. If the brain hummed at the buzz speed, we'd see a sharp 'spike' of energy at that exact frequency, sticking up above the brain's normal background. We don't — at any speed. The line just follows the usual background. So in the hippocampus, no frequency-following: it notices the buzz but doesn't oscillate in step with it. And importantly, this replicated across two recording sessions. So far the swing isn't catching the push.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it gets interesting. In the second region — the entorhinal inbox — a signal at exactly 50 per second DOES show up in the crowd murmur, and it gets bigger as we buzz harder. At this point in the project we were excited: maybe THIS region entrains at 50! But here's where you have to be a careful scientist, because there's a trap. Let me teach you the trap.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Analogy: you're recording the crowd, but the stadium's PA speaker is humming at 50 Hz, and your microphone picks up THAT hum too. Now your recording shows a clean 50 Hz — but it's the speaker, not the crowd. Same risk here: the buzzing motor and its electronics can leak a 50-per-second electrical signal straight into our recording wires. That would look exactly like a '50 Hz brain signal' but be pure equipment artifact. So how do you tell the brain from the machine? We found a clean test.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trick. Some of our electrodes were broken/disconnected — they physically can't hear any neurons. They're dead microphones. If a dead microphone still records a loud 50 Hz, that 50 Hz CANNOT be the brain — it can only be the machine's hum leaking in. And that's exactly what we saw: the dead electrodes picked up about SIX TIMES MORE 50 Hz than the live, in-brain ones (left panel: the clean region is flat; right: it piles up on the broken channels in red). Verdict: the entorhinal '50 Hz brain wave' is largely equipment pickup. The crowd-murmur signal fooled us. Good thing we checked — and good thing we have a more trustworthy signal.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hero arrives: the individual voices. When we track single, identified neurons, they genuinely change how much they fire during the strong 50-per-second buzz — and this happens in BOTH regions. Why is this trustworthy when the crowd-murmur wasn't? Because the machine's electrical hum can make a recording wiggle, but it can't make a real, identified neuron decide to fire. This is the clean, honest result: 50 Hz, strong buzz, is the condition where the brain's actual cells respond — far more than at the slower speeds. So question 2 — does speed matter? — yes: 50 is special.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safeguards, both intuitive. First: to find spikes we throw away the slow, low part of the signal and keep only the fast, sharp blips — like turning up the treble to hear finger-snaps over a rumble. The 50 Hz hum is a slow rumble, so it gets thrown away before we ever count a spike. Second safeguard: if the hum WERE sneaking in as fake spikes, the neuron would look like a metronome — ticking exactly every 1/50th of a second. We checked (this figure): the neuron's firing shows NO such 50 Hz ticking, and it looks the same during buzz and rest. So these are real neurons responding, not the machine. (This was the unit we scrutinized hardest; it passed.)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here's the satisfying part. The two regions react to the SAME buzz in OPPOSITE directions: in the hippocampus a subset of cells revs up; in the entorhinal region cells mostly quiet down. Analogy: two people hearing the same news — one gets excited, one goes quiet. That difference tells you they're actively PROCESSING the input, each in their own way — not just passively echoing the buzz. (Bonus: the quieting-down is itself strong evidence it's real, because equipment pickup can only ADD fake blips, it can't make a neuron go silent.)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finding. Both regions respond — do they coordinate, like partners in a conversation? The crowd-murmur made them look in sync. But analogy: two orchestras in separate rooms can SEEM synchronized simply because both hear the same metronome ticking in the hallway — not because they're listening to each other. The trustworthy test is whether the actual MUSICIANS (the neurons) time themselves to the other room — and they don't, not more during the buzz. So the apparent 'sync' is the shared hum (that 50 Hz pickup again), not genuine teamwork. Honest answer: no clear coordination.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 to the holy-grail question — does the brain entrain, march in step? We genuinely could not test it, and the reason is important and honest. Analogy: to judge whether a dancer is on the beat, you need to have recorded the MUSIC. We recorded the dancer (the brain) beautifully — but we never properly recorded the music (the exact timing of the buzz). Without the beat, you can't score the dancing. So 'we didn't show entrainment' is NOT 'the brain failed to entrain' — it's 'we were missing the measurement.'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went back and proved this from the data. The signal that was supposed to mark each buzz cycle actually updated only about 4 times a second — but the tactor was buzzing 26 times a second. Analogy: trying to track a hummingbird's wingbeats by glancing 4 times a second — between your glances the wings have flapped 6 times; you simply can't recover the motion. (Top: the actual recorded line, irregular and slow. Middle: what a real 26-per-second buzz looks like. Bottom: the recorded gaps are ~6× too long.) So the 'music track' was effectively blank. That single missing signal is the main limitation of the whole study.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good news: this is a wiring problem, not a dead end, and we've already designed the fix. Next round we record the music three ways at once, all on the same clock as the brain: (1) a clean marker the buzzer's own software emits once per cycle; (2) a tiny force sensor squeezed between the tactor and the skin that measures the ACTUAL vibration delivered — proving the buzz really happened and giving us its exact beat; and (3) a copy of the drive signal as a backup. And we'll do a 2-minute test recording to CONFIRM it works before collecting real data — the check that would have caught this last time. Then entrainment becomes directly testable.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land the plane with three plain-language takeaways. ONE: a buzz on the body really does change the brain — that's not trivial, and it's real. TWO: the most trustworthy effect is at the level of individual neurons, specifically at the fast 50-per-second buzz, and the two regions handle it differently — active processing, not a passive echo. THREE: the flashy 'brain wave at 50 Hz' turned out to be mostly the machine's hum, and whether the brain truly 'marches in step' (entrains) we couldn't test yet — because the stimulus timing wasn't recorded. We know exactly how to fix that.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should a non-neuroscientist care? Because if the next round shows the brain CAN be entrained through the skin, that's a foundation for safe, non-invasive wearables that nudge brain states — for sleep, focus, calm, or rehabilitation — without surgery or drugs. This study did the honest groundwork: it found a real neural effect, it caught itself when a result was actually equipment noise, and it pinpointed the one measurement we must add to ask the biggest question properly. That's how careful science gets built.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Likely questions: 'Is 50 Hz special or just strongest?' (strongest clean single-unit effect of the speeds we tested). 'Could it be arousal — they just felt a strong buzz?' (possible; but it's frequency-specific, 50 beats 26 at the same strength, which argues against pure arousal). 'Why not just trust the 50 Hz brain wave?' (dead electrodes picked it up → it's largely machine pickup).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572000"/>
            <a:ext cx="12191695" cy="7315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828800"/>
            <a:ext cx="10362895" cy="1463040"/>
          </a:xfrm>
          <a:prstGeom prst="rect">
            <a:avLst/>
          </a:prstGeom>
          <a:noFill/>
        </p:spPr>
        <p:txBody>
          <a:bodyPr wrap="square" anchor="t">
            <a:spAutoFit/>
          </a:bodyPr>
          <a:lstStyle/>
          <a:p>
            <a:pPr algn="l"/>
            <a:r>
              <a:rPr sz="3800" b="1">
                <a:solidFill>
                  <a:srgbClr val="FFFFFF"/>
                </a:solidFill>
                <a:latin typeface="Calibri"/>
              </a:rPr>
              <a:t>Can we talk to the brain through the skin?</a:t>
            </a:r>
          </a:p>
        </p:txBody>
      </p:sp>
      <p:sp>
        <p:nvSpPr>
          <p:cNvPr id="5" name="TextBox 4"/>
          <p:cNvSpPr txBox="1"/>
          <p:nvPr/>
        </p:nvSpPr>
        <p:spPr>
          <a:xfrm>
            <a:off x="914400" y="3291840"/>
            <a:ext cx="10362895" cy="914400"/>
          </a:xfrm>
          <a:prstGeom prst="rect">
            <a:avLst/>
          </a:prstGeom>
          <a:noFill/>
        </p:spPr>
        <p:txBody>
          <a:bodyPr wrap="square" anchor="t">
            <a:spAutoFit/>
          </a:bodyPr>
          <a:lstStyle/>
          <a:p>
            <a:pPr algn="l"/>
            <a:r>
              <a:rPr sz="2000" b="0">
                <a:solidFill>
                  <a:srgbClr val="BFD0DA"/>
                </a:solidFill>
                <a:latin typeface="Calibri"/>
              </a:rPr>
              <a:t>What happens in the brain when we buzz the body at different rhythms</a:t>
            </a:r>
          </a:p>
        </p:txBody>
      </p:sp>
      <p:sp>
        <p:nvSpPr>
          <p:cNvPr id="6" name="TextBox 5"/>
          <p:cNvSpPr txBox="1"/>
          <p:nvPr/>
        </p:nvSpPr>
        <p:spPr>
          <a:xfrm>
            <a:off x="914400" y="4846320"/>
            <a:ext cx="10362895" cy="731520"/>
          </a:xfrm>
          <a:prstGeom prst="rect">
            <a:avLst/>
          </a:prstGeom>
          <a:noFill/>
        </p:spPr>
        <p:txBody>
          <a:bodyPr wrap="square" anchor="t">
            <a:spAutoFit/>
          </a:bodyPr>
          <a:lstStyle/>
          <a:p>
            <a:pPr algn="l"/>
            <a:r>
              <a:rPr sz="1600" b="0">
                <a:solidFill>
                  <a:srgbClr val="9AA8B5"/>
                </a:solidFill>
                <a:latin typeface="Calibri"/>
              </a:rPr>
              <a:t>Pardis Miri  ·  Buzsáki Lab  ·  haptic-stimulation electrophysiology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1005840"/>
          </a:xfrm>
          <a:prstGeom prst="rect">
            <a:avLst/>
          </a:prstGeom>
          <a:noFill/>
        </p:spPr>
        <p:txBody>
          <a:bodyPr wrap="square" anchor="t">
            <a:spAutoFit/>
          </a:bodyPr>
          <a:lstStyle/>
          <a:p>
            <a:pPr algn="l"/>
            <a:r>
              <a:rPr sz="2600" b="1">
                <a:solidFill>
                  <a:srgbClr val="1A1A2E"/>
                </a:solidFill>
                <a:latin typeface="Calibri"/>
              </a:rPr>
              <a:t>The dream: wearables that gently 'nudge' the brain through touch</a:t>
            </a:r>
          </a:p>
        </p:txBody>
      </p:sp>
      <p:sp>
        <p:nvSpPr>
          <p:cNvPr id="4" name="Rectangle 3"/>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To build that, we first have to answer a basic question: does a buzz on the body actually reach and change the brain?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1005840"/>
          </a:xfrm>
          <a:prstGeom prst="rect">
            <a:avLst/>
          </a:prstGeom>
          <a:noFill/>
        </p:spPr>
        <p:txBody>
          <a:bodyPr wrap="square" anchor="t">
            <a:spAutoFit/>
          </a:bodyPr>
          <a:lstStyle/>
          <a:p>
            <a:pPr algn="l"/>
            <a:r>
              <a:rPr sz="2600" b="1">
                <a:solidFill>
                  <a:srgbClr val="1A1A2E"/>
                </a:solidFill>
                <a:latin typeface="Calibri"/>
              </a:rPr>
              <a:t>The experiment, in one picture</a:t>
            </a:r>
          </a:p>
        </p:txBody>
      </p:sp>
      <p:sp>
        <p:nvSpPr>
          <p:cNvPr id="4" name="Rectangle 3"/>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Buzz the body in 3-second bursts at different speeds; listen to the brain at the same time; repeat 200×.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1005840"/>
          </a:xfrm>
          <a:prstGeom prst="rect">
            <a:avLst/>
          </a:prstGeom>
          <a:noFill/>
        </p:spPr>
        <p:txBody>
          <a:bodyPr wrap="square" anchor="t">
            <a:spAutoFit/>
          </a:bodyPr>
          <a:lstStyle/>
          <a:p>
            <a:pPr algn="l"/>
            <a:r>
              <a:rPr sz="2600" b="1">
                <a:solidFill>
                  <a:srgbClr val="1A1A2E"/>
                </a:solidFill>
                <a:latin typeface="Calibri"/>
              </a:rPr>
              <a:t>Three questions</a:t>
            </a:r>
          </a:p>
        </p:txBody>
      </p:sp>
      <p:sp>
        <p:nvSpPr>
          <p:cNvPr id="4" name="Rectangle 3"/>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(1) Does the brain notice?   (2) Does the buzz SPEED matter?   (3) Does the brain march in step with the buzz?</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468880"/>
            <a:ext cx="10362895" cy="1371600"/>
          </a:xfrm>
          <a:prstGeom prst="rect">
            <a:avLst/>
          </a:prstGeom>
          <a:noFill/>
        </p:spPr>
        <p:txBody>
          <a:bodyPr wrap="square" anchor="ctr">
            <a:spAutoFit/>
          </a:bodyPr>
          <a:lstStyle/>
          <a:p>
            <a:pPr algn="l"/>
            <a:r>
              <a:rPr sz="4000" b="1">
                <a:solidFill>
                  <a:srgbClr val="FFFFFF"/>
                </a:solidFill>
                <a:latin typeface="Calibri"/>
              </a:rPr>
              <a:t>Part 1 — How do you 'listen' to a brain?</a:t>
            </a:r>
          </a:p>
        </p:txBody>
      </p:sp>
      <p:sp>
        <p:nvSpPr>
          <p:cNvPr id="4" name="TextBox 3"/>
          <p:cNvSpPr txBox="1"/>
          <p:nvPr/>
        </p:nvSpPr>
        <p:spPr>
          <a:xfrm>
            <a:off x="914400" y="3749039"/>
            <a:ext cx="10362895" cy="914400"/>
          </a:xfrm>
          <a:prstGeom prst="rect">
            <a:avLst/>
          </a:prstGeom>
          <a:noFill/>
        </p:spPr>
        <p:txBody>
          <a:bodyPr wrap="square" anchor="t">
            <a:spAutoFit/>
          </a:bodyPr>
          <a:lstStyle/>
          <a:p>
            <a:pPr algn="l"/>
            <a:r>
              <a:rPr sz="2000" b="0">
                <a:solidFill>
                  <a:srgbClr val="D8E8EE"/>
                </a:solidFill>
                <a:latin typeface="Calibri"/>
              </a:rPr>
              <a:t>Two ideas you need, both with analogies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1005840"/>
          </a:xfrm>
          <a:prstGeom prst="rect">
            <a:avLst/>
          </a:prstGeom>
          <a:noFill/>
        </p:spPr>
        <p:txBody>
          <a:bodyPr wrap="square" anchor="t">
            <a:spAutoFit/>
          </a:bodyPr>
          <a:lstStyle/>
          <a:p>
            <a:pPr algn="l"/>
            <a:r>
              <a:rPr sz="2600" b="1">
                <a:solidFill>
                  <a:srgbClr val="1A1A2E"/>
                </a:solidFill>
                <a:latin typeface="Calibri"/>
              </a:rPr>
              <a:t>We listened in two neighboring brain regions</a:t>
            </a:r>
          </a:p>
        </p:txBody>
      </p:sp>
      <p:sp>
        <p:nvSpPr>
          <p:cNvPr id="4" name="Rectangle 3"/>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Hippocampus = the brain's inner GPS &amp; memory.  Entorhinal cortex = its main input hub. Two listening posts.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1C6E8C"/>
                </a:solidFill>
                <a:latin typeface="Calibri"/>
              </a:rPr>
              <a:t>CONCEPT · ANALOGY</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600" b="1">
                <a:solidFill>
                  <a:srgbClr val="1A1A2E"/>
                </a:solidFill>
                <a:latin typeface="Calibri"/>
              </a:rPr>
              <a:t>THE key idea: a brain recording has two very different signals</a:t>
            </a:r>
          </a:p>
        </p:txBody>
      </p:sp>
      <p:sp>
        <p:nvSpPr>
          <p:cNvPr id="5" name="Rectangle 4"/>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Stadium analogy → the CROWD MURMUR (the field potential) vs. INDIVIDUAL VOICES (single neurons firing).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1C6E8C"/>
                </a:solidFill>
                <a:latin typeface="Calibri"/>
              </a:rPr>
              <a:t>CONCEPT</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600" b="1">
                <a:solidFill>
                  <a:srgbClr val="1A1A2E"/>
                </a:solidFill>
                <a:latin typeface="Calibri"/>
              </a:rPr>
              <a:t>Why single neurons are the gold standard</a:t>
            </a:r>
          </a:p>
        </p:txBody>
      </p:sp>
      <p:sp>
        <p:nvSpPr>
          <p:cNvPr id="5" name="Rectangle 4"/>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A real neuron firing is unambiguous — it's much harder for noise or equipment to fake than the crowd hum.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468880"/>
            <a:ext cx="10362895" cy="1371600"/>
          </a:xfrm>
          <a:prstGeom prst="rect">
            <a:avLst/>
          </a:prstGeom>
          <a:noFill/>
        </p:spPr>
        <p:txBody>
          <a:bodyPr wrap="square" anchor="ctr">
            <a:spAutoFit/>
          </a:bodyPr>
          <a:lstStyle/>
          <a:p>
            <a:pPr algn="l"/>
            <a:r>
              <a:rPr sz="4000" b="1">
                <a:solidFill>
                  <a:srgbClr val="FFFFFF"/>
                </a:solidFill>
                <a:latin typeface="Calibri"/>
              </a:rPr>
              <a:t>Part 2 — What the brain actually did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1C6E8C"/>
                </a:solidFill>
                <a:latin typeface="Calibri"/>
              </a:rPr>
              <a:t>FINDING 1 · ANALOGY</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600" b="1">
                <a:solidFill>
                  <a:srgbClr val="1A1A2E"/>
                </a:solidFill>
                <a:latin typeface="Calibri"/>
              </a:rPr>
              <a:t>Yes — the brain notices the buzz. But it reacts to the START and STOP</a:t>
            </a:r>
          </a:p>
        </p:txBody>
      </p:sp>
      <p:pic>
        <p:nvPicPr>
          <p:cNvPr id="5" name="Picture 4" descr="transition_index_condition.png"/>
          <p:cNvPicPr>
            <a:picLocks noChangeAspect="1"/>
          </p:cNvPicPr>
          <p:nvPr/>
        </p:nvPicPr>
        <p:blipFill>
          <a:blip r:embed="rId2"/>
          <a:stretch>
            <a:fillRect/>
          </a:stretch>
        </p:blipFill>
        <p:spPr>
          <a:xfrm>
            <a:off x="2000097" y="1965960"/>
            <a:ext cx="8191500" cy="3931920"/>
          </a:xfrm>
          <a:prstGeom prst="rect">
            <a:avLst/>
          </a:prstGeom>
        </p:spPr>
      </p:pic>
      <p:sp>
        <p:nvSpPr>
          <p:cNvPr id="6" name="Rectangle 5"/>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Like a doorbell: the brain responds to the EVENT of the buzz turning on/off — not by humming along with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1C6E8C"/>
                </a:solidFill>
                <a:latin typeface="Calibri"/>
              </a:rPr>
              <a:t>CONCEPT · ANALOGY</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600" b="1">
                <a:solidFill>
                  <a:srgbClr val="1A1A2E"/>
                </a:solidFill>
                <a:latin typeface="Calibri"/>
              </a:rPr>
              <a:t>'Marching in step' has a name: entrainment</a:t>
            </a:r>
          </a:p>
        </p:txBody>
      </p:sp>
      <p:sp>
        <p:nvSpPr>
          <p:cNvPr id="5" name="Rectangle 4"/>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Pushing a swing in rhythm → if the brain entrains, its own waves line up with the buzz's beat.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1C6E8C"/>
                </a:solidFill>
                <a:latin typeface="Calibri"/>
              </a:rPr>
              <a:t>FINDING 2</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600" b="1">
                <a:solidFill>
                  <a:srgbClr val="1A1A2E"/>
                </a:solidFill>
                <a:latin typeface="Calibri"/>
              </a:rPr>
              <a:t>The hippocampus does NOT hum along — at any buzz speed</a:t>
            </a:r>
          </a:p>
        </p:txBody>
      </p:sp>
      <p:pic>
        <p:nvPicPr>
          <p:cNvPr id="5" name="Picture 4" descr="spectral_slope_itpc_dec4.png"/>
          <p:cNvPicPr>
            <a:picLocks noChangeAspect="1"/>
          </p:cNvPicPr>
          <p:nvPr/>
        </p:nvPicPr>
        <p:blipFill>
          <a:blip r:embed="rId2"/>
          <a:stretch>
            <a:fillRect/>
          </a:stretch>
        </p:blipFill>
        <p:spPr>
          <a:xfrm>
            <a:off x="2819247" y="1965960"/>
            <a:ext cx="6553200" cy="3931920"/>
          </a:xfrm>
          <a:prstGeom prst="rect">
            <a:avLst/>
          </a:prstGeom>
        </p:spPr>
      </p:pic>
      <p:sp>
        <p:nvSpPr>
          <p:cNvPr id="6" name="Rectangle 5"/>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No matter the buzz speed (5–50/sec), we see no matching brain rhythm above the normal background.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1C6E8C"/>
                </a:solidFill>
                <a:latin typeface="Calibri"/>
              </a:rPr>
              <a:t>FINDING 3</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600" b="1">
                <a:solidFill>
                  <a:srgbClr val="1A1A2E"/>
                </a:solidFill>
                <a:latin typeface="Calibri"/>
              </a:rPr>
              <a:t>Plot twist: the OTHER region shows a 50-per-second signal</a:t>
            </a:r>
          </a:p>
        </p:txBody>
      </p:sp>
      <p:pic>
        <p:nvPicPr>
          <p:cNvPr id="5" name="Picture 4" descr="driven_power_change_by_analysis_group.png"/>
          <p:cNvPicPr>
            <a:picLocks noChangeAspect="1"/>
          </p:cNvPicPr>
          <p:nvPr/>
        </p:nvPicPr>
        <p:blipFill>
          <a:blip r:embed="rId2"/>
          <a:stretch>
            <a:fillRect/>
          </a:stretch>
        </p:blipFill>
        <p:spPr>
          <a:xfrm>
            <a:off x="731519" y="1965960"/>
            <a:ext cx="10728655" cy="2043553"/>
          </a:xfrm>
          <a:prstGeom prst="rect">
            <a:avLst/>
          </a:prstGeom>
        </p:spPr>
      </p:pic>
      <p:sp>
        <p:nvSpPr>
          <p:cNvPr id="6" name="Rectangle 5"/>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In the entorhinal region, a 50 Hz signal appears in the crowd murmur — and it grows with buzz strength. Exciting!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1C6E8C"/>
                </a:solidFill>
                <a:latin typeface="Calibri"/>
              </a:rPr>
              <a:t>CONCEPT · ANALOGY</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600" b="1">
                <a:solidFill>
                  <a:srgbClr val="1A1A2E"/>
                </a:solidFill>
                <a:latin typeface="Calibri"/>
              </a:rPr>
              <a:t>The trap: the machine has its OWN electrical hum</a:t>
            </a:r>
          </a:p>
        </p:txBody>
      </p:sp>
      <p:sp>
        <p:nvSpPr>
          <p:cNvPr id="5" name="Rectangle 4"/>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A microphone can pick up the speaker's buzz, not just the crowd. Electrical equipment leaks its own signal.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1C6E8C"/>
                </a:solidFill>
                <a:latin typeface="Calibri"/>
              </a:rPr>
              <a:t>FINDING 3B · THE KILLER TEST</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600" b="1">
                <a:solidFill>
                  <a:srgbClr val="1A1A2E"/>
                </a:solidFill>
                <a:latin typeface="Calibri"/>
              </a:rPr>
              <a:t>That 50 Hz is mostly the machine — the dead-electrode test proves it</a:t>
            </a:r>
          </a:p>
        </p:txBody>
      </p:sp>
      <p:pic>
        <p:nvPicPr>
          <p:cNvPr id="5" name="Picture 4" descr="50hz_pickup_gradient_dhpc_vs_lec.png"/>
          <p:cNvPicPr>
            <a:picLocks noChangeAspect="1"/>
          </p:cNvPicPr>
          <p:nvPr/>
        </p:nvPicPr>
        <p:blipFill>
          <a:blip r:embed="rId2"/>
          <a:stretch>
            <a:fillRect/>
          </a:stretch>
        </p:blipFill>
        <p:spPr>
          <a:xfrm>
            <a:off x="731519" y="1965960"/>
            <a:ext cx="10728655" cy="3796293"/>
          </a:xfrm>
          <a:prstGeom prst="rect">
            <a:avLst/>
          </a:prstGeom>
        </p:spPr>
      </p:pic>
      <p:sp>
        <p:nvSpPr>
          <p:cNvPr id="6" name="Rectangle 5"/>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Broken electrodes that CAN'T hear neurons still pick up the 50 Hz — ~6× more than the live ones. So it's pickup.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1C6E8C"/>
                </a:solidFill>
                <a:latin typeface="Calibri"/>
              </a:rPr>
              <a:t>FINDING 4 · THE HEADLINE</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600" b="1">
                <a:solidFill>
                  <a:srgbClr val="1A1A2E"/>
                </a:solidFill>
                <a:latin typeface="Calibri"/>
              </a:rPr>
              <a:t>The real result: individual neurons change their firing at 50 Hz</a:t>
            </a:r>
          </a:p>
        </p:txBody>
      </p:sp>
      <p:pic>
        <p:nvPicPr>
          <p:cNvPr id="5" name="Picture 4" descr="spike_onoff_cross_dataset.png"/>
          <p:cNvPicPr>
            <a:picLocks noChangeAspect="1"/>
          </p:cNvPicPr>
          <p:nvPr/>
        </p:nvPicPr>
        <p:blipFill>
          <a:blip r:embed="rId2"/>
          <a:stretch>
            <a:fillRect/>
          </a:stretch>
        </p:blipFill>
        <p:spPr>
          <a:xfrm>
            <a:off x="731519" y="1965960"/>
            <a:ext cx="10728655" cy="3121063"/>
          </a:xfrm>
          <a:prstGeom prst="rect">
            <a:avLst/>
          </a:prstGeom>
        </p:spPr>
      </p:pic>
      <p:sp>
        <p:nvSpPr>
          <p:cNvPr id="6" name="Rectangle 5"/>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Single neurons fire differently during the 50 Hz buzz — in BOTH regions. Equipment hum can't fake a neuron firing.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1C6E8C"/>
                </a:solidFill>
                <a:latin typeface="Calibri"/>
              </a:rPr>
              <a:t>CONCEPT · ANALOGY</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600" b="1">
                <a:solidFill>
                  <a:srgbClr val="1A1A2E"/>
                </a:solidFill>
                <a:latin typeface="Calibri"/>
              </a:rPr>
              <a:t>How do we KNOW it's neurons and not the machine? Two filters</a:t>
            </a:r>
          </a:p>
        </p:txBody>
      </p:sp>
      <p:pic>
        <p:nvPicPr>
          <p:cNvPr id="5" name="Picture 4" descr="unit87_acg_artifact_screen.png"/>
          <p:cNvPicPr>
            <a:picLocks noChangeAspect="1"/>
          </p:cNvPicPr>
          <p:nvPr/>
        </p:nvPicPr>
        <p:blipFill>
          <a:blip r:embed="rId2"/>
          <a:stretch>
            <a:fillRect/>
          </a:stretch>
        </p:blipFill>
        <p:spPr>
          <a:xfrm>
            <a:off x="731519" y="1965960"/>
            <a:ext cx="10728655" cy="2795952"/>
          </a:xfrm>
          <a:prstGeom prst="rect">
            <a:avLst/>
          </a:prstGeom>
        </p:spPr>
      </p:pic>
      <p:sp>
        <p:nvSpPr>
          <p:cNvPr id="6" name="Rectangle 5"/>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(1) Strip out the slow hum to find the sharp spikes.  (2) Check the neuron isn't 'ticking like a clock' at 50 Hz.</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1C6E8C"/>
                </a:solidFill>
                <a:latin typeface="Calibri"/>
              </a:rPr>
              <a:t>FINDING 4B · ANALOGY</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600" b="1">
                <a:solidFill>
                  <a:srgbClr val="1A1A2E"/>
                </a:solidFill>
                <a:latin typeface="Calibri"/>
              </a:rPr>
              <a:t>Same buzz, opposite reactions — the brain is PROCESSING, not echoing</a:t>
            </a:r>
          </a:p>
        </p:txBody>
      </p:sp>
      <p:pic>
        <p:nvPicPr>
          <p:cNvPr id="5" name="Picture 4" descr="spike_50hz_interpretation.png"/>
          <p:cNvPicPr>
            <a:picLocks noChangeAspect="1"/>
          </p:cNvPicPr>
          <p:nvPr/>
        </p:nvPicPr>
        <p:blipFill>
          <a:blip r:embed="rId2"/>
          <a:stretch>
            <a:fillRect/>
          </a:stretch>
        </p:blipFill>
        <p:spPr>
          <a:xfrm>
            <a:off x="2269624" y="1965960"/>
            <a:ext cx="7652446" cy="3931920"/>
          </a:xfrm>
          <a:prstGeom prst="rect">
            <a:avLst/>
          </a:prstGeom>
        </p:spPr>
      </p:pic>
      <p:sp>
        <p:nvSpPr>
          <p:cNvPr id="6" name="Rectangle 5"/>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One region revs a subset of cells UP; the other quiets DOWN. A passive echo would look the same everywhere.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1C6E8C"/>
                </a:solidFill>
                <a:latin typeface="Calibri"/>
              </a:rPr>
              <a:t>FINDING 5 · ANALOGY</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600" b="1">
                <a:solidFill>
                  <a:srgbClr val="1A1A2E"/>
                </a:solidFill>
                <a:latin typeface="Calibri"/>
              </a:rPr>
              <a:t>Do the two regions 'work together' at 50 Hz? Not clearly</a:t>
            </a:r>
          </a:p>
        </p:txBody>
      </p:sp>
      <p:pic>
        <p:nvPicPr>
          <p:cNvPr id="5" name="Picture 4" descr="coordination_50hz_pooled.png"/>
          <p:cNvPicPr>
            <a:picLocks noChangeAspect="1"/>
          </p:cNvPicPr>
          <p:nvPr/>
        </p:nvPicPr>
        <p:blipFill>
          <a:blip r:embed="rId2"/>
          <a:stretch>
            <a:fillRect/>
          </a:stretch>
        </p:blipFill>
        <p:spPr>
          <a:xfrm>
            <a:off x="880035" y="1965960"/>
            <a:ext cx="10431624" cy="3931920"/>
          </a:xfrm>
          <a:prstGeom prst="rect">
            <a:avLst/>
          </a:prstGeom>
        </p:spPr>
      </p:pic>
      <p:sp>
        <p:nvSpPr>
          <p:cNvPr id="6" name="Rectangle 5"/>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Two orchestras can SOUND synced because of a hallway metronome (shared hum) — not because they're playing together.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468880"/>
            <a:ext cx="10362895" cy="1371600"/>
          </a:xfrm>
          <a:prstGeom prst="rect">
            <a:avLst/>
          </a:prstGeom>
          <a:noFill/>
        </p:spPr>
        <p:txBody>
          <a:bodyPr wrap="square" anchor="ctr">
            <a:spAutoFit/>
          </a:bodyPr>
          <a:lstStyle/>
          <a:p>
            <a:pPr algn="l"/>
            <a:r>
              <a:rPr sz="4000" b="1">
                <a:solidFill>
                  <a:srgbClr val="FFFFFF"/>
                </a:solidFill>
                <a:latin typeface="Calibri"/>
              </a:rPr>
              <a:t>Part 3 — The one thing we couldn't test (and how we fix it)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1C6E8C"/>
                </a:solidFill>
                <a:latin typeface="Calibri"/>
              </a:rPr>
              <a:t>THE HONEST LIMIT · ANALOGY</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600" b="1">
                <a:solidFill>
                  <a:srgbClr val="1A1A2E"/>
                </a:solidFill>
                <a:latin typeface="Calibri"/>
              </a:rPr>
              <a:t>We could NOT test 'marching in step' — and it's not the brain's fault</a:t>
            </a:r>
          </a:p>
        </p:txBody>
      </p:sp>
      <p:sp>
        <p:nvSpPr>
          <p:cNvPr id="5" name="Rectangle 4"/>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It's like judging whether a dancer is on-beat when you forgot to record the music. The reference was missing.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1C6E8C"/>
                </a:solidFill>
                <a:latin typeface="Calibri"/>
              </a:rPr>
              <a:t>THE DIAGNOSIS</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600" b="1">
                <a:solidFill>
                  <a:srgbClr val="1A1A2E"/>
                </a:solidFill>
                <a:latin typeface="Calibri"/>
              </a:rPr>
              <a:t>Why: the wire meant to record the buzz never captured it</a:t>
            </a:r>
          </a:p>
        </p:txBody>
      </p:sp>
      <p:pic>
        <p:nvPicPr>
          <p:cNvPr id="5" name="Picture 4" descr="ttl_cannot_recover_tactor_phase.png"/>
          <p:cNvPicPr>
            <a:picLocks noChangeAspect="1"/>
          </p:cNvPicPr>
          <p:nvPr/>
        </p:nvPicPr>
        <p:blipFill>
          <a:blip r:embed="rId2"/>
          <a:stretch>
            <a:fillRect/>
          </a:stretch>
        </p:blipFill>
        <p:spPr>
          <a:xfrm>
            <a:off x="2546197" y="1965960"/>
            <a:ext cx="7099300" cy="3931920"/>
          </a:xfrm>
          <a:prstGeom prst="rect">
            <a:avLst/>
          </a:prstGeom>
        </p:spPr>
      </p:pic>
      <p:sp>
        <p:nvSpPr>
          <p:cNvPr id="6" name="Rectangle 5"/>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It updated ~4×/sec while the tactor buzzed 26×/sec — like checking a hummingbird's wings 4 times a second.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1005840"/>
          </a:xfrm>
          <a:prstGeom prst="rect">
            <a:avLst/>
          </a:prstGeom>
          <a:noFill/>
        </p:spPr>
        <p:txBody>
          <a:bodyPr wrap="square" anchor="t">
            <a:spAutoFit/>
          </a:bodyPr>
          <a:lstStyle/>
          <a:p>
            <a:pPr algn="l"/>
            <a:r>
              <a:rPr sz="2600" b="1">
                <a:solidFill>
                  <a:srgbClr val="1A1A2E"/>
                </a:solidFill>
                <a:latin typeface="Calibri"/>
              </a:rPr>
              <a:t>The fix is concrete — next round records the buzz properly</a:t>
            </a:r>
          </a:p>
        </p:txBody>
      </p:sp>
      <p:sp>
        <p:nvSpPr>
          <p:cNvPr id="4" name="Rectangle 3"/>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A per-cycle marker from the firmware + a tiny force sensor that measures the ACTUAL vibration, on the same clock.</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1C6E8C"/>
                </a:solidFill>
                <a:latin typeface="Calibri"/>
              </a:rPr>
              <a:t>TAKEAWAYS</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600" b="1">
                <a:solidFill>
                  <a:srgbClr val="1A1A2E"/>
                </a:solidFill>
                <a:latin typeface="Calibri"/>
              </a:rPr>
              <a:t>The big picture, in plain words</a:t>
            </a:r>
          </a:p>
        </p:txBody>
      </p:sp>
      <p:sp>
        <p:nvSpPr>
          <p:cNvPr id="5" name="Rectangle 4"/>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Buzzing the body DOES change the brain — most clearly as single-neuron activity at 50 Hz — but 'driving a brain rhythm' isn't shown yet.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1C6E8C"/>
                </a:solidFill>
                <a:latin typeface="Calibri"/>
              </a:rPr>
              <a:t>THE ROAD AHEAD</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600" b="1">
                <a:solidFill>
                  <a:srgbClr val="1A1A2E"/>
                </a:solidFill>
                <a:latin typeface="Calibri"/>
              </a:rPr>
              <a:t>Why it matters</a:t>
            </a:r>
          </a:p>
        </p:txBody>
      </p:sp>
      <p:sp>
        <p:nvSpPr>
          <p:cNvPr id="5" name="Rectangle 4"/>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If we can verify entrainment, we move toward wearables that gently and non-invasively steer brain states through touch.</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743200"/>
            <a:ext cx="10362895" cy="1097280"/>
          </a:xfrm>
          <a:prstGeom prst="rect">
            <a:avLst/>
          </a:prstGeom>
          <a:noFill/>
        </p:spPr>
        <p:txBody>
          <a:bodyPr wrap="square" anchor="ctr">
            <a:spAutoFit/>
          </a:bodyPr>
          <a:lstStyle/>
          <a:p>
            <a:pPr algn="l"/>
            <a:r>
              <a:rPr sz="4000" b="1">
                <a:solidFill>
                  <a:srgbClr val="FFFFFF"/>
                </a:solidFill>
                <a:latin typeface="Calibri"/>
              </a:rPr>
              <a:t>Thank you — questions?</a:t>
            </a:r>
          </a:p>
        </p:txBody>
      </p:sp>
      <p:sp>
        <p:nvSpPr>
          <p:cNvPr id="4" name="TextBox 3"/>
          <p:cNvSpPr txBox="1"/>
          <p:nvPr/>
        </p:nvSpPr>
        <p:spPr>
          <a:xfrm>
            <a:off x="914400" y="3840480"/>
            <a:ext cx="10362895" cy="731520"/>
          </a:xfrm>
          <a:prstGeom prst="rect">
            <a:avLst/>
          </a:prstGeom>
          <a:noFill/>
        </p:spPr>
        <p:txBody>
          <a:bodyPr wrap="square" anchor="t">
            <a:spAutoFit/>
          </a:bodyPr>
          <a:lstStyle/>
          <a:p>
            <a:pPr algn="l"/>
            <a:r>
              <a:rPr sz="1800" b="0">
                <a:solidFill>
                  <a:srgbClr val="BFD0DA"/>
                </a:solidFill>
                <a:latin typeface="Calibri"/>
              </a:rPr>
              <a:t>Happy to dig into any figure, the analogies, or the next-round design.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